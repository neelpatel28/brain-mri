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281" r:id="rId5"/>
    <p:sldId id="318" r:id="rId6"/>
    <p:sldId id="326" r:id="rId7"/>
    <p:sldId id="323" r:id="rId8"/>
    <p:sldId id="329" r:id="rId9"/>
    <p:sldId id="327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333A-1315-1C96-CAE8-484B4682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099F6-5A7F-AD7B-0CCA-FA317F29C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DB134-C7F8-6966-DB83-C10C3E81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206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4BB7-DFB9-F1CB-5E3D-E459A45C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24A76-6F4E-5B9D-94DC-6BCF70B4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CEB4-3B93-3D64-B840-F4B291733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087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9018-E697-02A0-BD49-C322B9FB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CF35E-0294-6E65-5F78-42C1B40B0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1FDF6-3559-4AA2-DE37-D8B351DF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71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B858-34E1-957E-7B84-2ED59C31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695E7-12CB-9545-8E50-A889764F4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0164C-822A-69E6-9F0B-9F76BF357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0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BC4013-6C92-AB1A-587B-1B9434B231B6}"/>
              </a:ext>
            </a:extLst>
          </p:cNvPr>
          <p:cNvSpPr txBox="1">
            <a:spLocks/>
          </p:cNvSpPr>
          <p:nvPr/>
        </p:nvSpPr>
        <p:spPr>
          <a:xfrm>
            <a:off x="238514" y="1941672"/>
            <a:ext cx="7184924" cy="2727709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IMAGE RECONSTRUCTION for CT/MRI </a:t>
            </a:r>
          </a:p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USING 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GAUSS ELIMINATION</a:t>
            </a:r>
          </a:p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METHOD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D2E492-7AEF-B6B3-61AC-FEAA941244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38"/>
          <a:stretch>
            <a:fillRect/>
          </a:stretch>
        </p:blipFill>
        <p:spPr>
          <a:xfrm>
            <a:off x="7305040" y="407190"/>
            <a:ext cx="4886960" cy="64508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48993-3DF9-9ACC-FF6A-E20023E4C5D2}"/>
              </a:ext>
            </a:extLst>
          </p:cNvPr>
          <p:cNvSpPr txBox="1"/>
          <p:nvPr/>
        </p:nvSpPr>
        <p:spPr>
          <a:xfrm>
            <a:off x="-1125794" y="5693092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NEEL AMRISH PATEL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21" y="550883"/>
            <a:ext cx="7843837" cy="1012782"/>
          </a:xfrm>
        </p:spPr>
        <p:txBody>
          <a:bodyPr/>
          <a:lstStyle/>
          <a:p>
            <a:r>
              <a:rPr lang="en-US" dirty="0"/>
              <a:t>Why Do We Need Image Reconstruction?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481C3F-8914-ECFD-1AE3-081EC0E276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2954" y="2018705"/>
            <a:ext cx="6180064" cy="4201233"/>
          </a:xfrm>
        </p:spPr>
        <p:txBody>
          <a:bodyPr>
            <a:normAutofit fontScale="77500" lnSpcReduction="20000"/>
          </a:bodyPr>
          <a:lstStyle/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r>
              <a:rPr lang="en-US" dirty="0"/>
              <a:t>CT/MRI scanners collect </a:t>
            </a:r>
            <a:r>
              <a:rPr lang="en-US" b="1" dirty="0"/>
              <a:t>projections</a:t>
            </a:r>
            <a:r>
              <a:rPr lang="en-US" dirty="0"/>
              <a:t>, not direct </a:t>
            </a:r>
          </a:p>
          <a:p>
            <a:pPr eaLnBrk="0" fontAlgn="base" hangingPunct="0"/>
            <a:r>
              <a:rPr lang="en-US" dirty="0"/>
              <a:t>     images.</a:t>
            </a:r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r>
              <a:rPr lang="en-US" dirty="0"/>
              <a:t>Projections = </a:t>
            </a:r>
            <a:r>
              <a:rPr lang="en-US" b="1" dirty="0"/>
              <a:t>sum of pixel intensities</a:t>
            </a:r>
            <a:r>
              <a:rPr lang="en-US" dirty="0"/>
              <a:t> along rays.</a:t>
            </a:r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r>
              <a:rPr lang="en-US" dirty="0"/>
              <a:t>Example: Beams passing through body → detectors measure </a:t>
            </a:r>
          </a:p>
          <a:p>
            <a:pPr eaLnBrk="0" fontAlgn="base" hangingPunct="0"/>
            <a:r>
              <a:rPr lang="en-US" dirty="0"/>
              <a:t>      absorption.</a:t>
            </a:r>
            <a:endParaRPr lang="en-IN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r>
              <a:rPr lang="en-US" dirty="0"/>
              <a:t>Types of projections used:</a:t>
            </a:r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endParaRPr lang="en-IN" dirty="0"/>
          </a:p>
          <a:p>
            <a:pPr marL="690372" lvl="1" indent="-342900" eaLnBrk="0" fontAlgn="base" hangingPunct="0">
              <a:buFont typeface="Wingdings" panose="05000000000000000000" pitchFamily="2" charset="2"/>
              <a:buChar char="§"/>
            </a:pPr>
            <a:r>
              <a:rPr lang="en-US" b="1" dirty="0"/>
              <a:t>Horizontal </a:t>
            </a:r>
          </a:p>
          <a:p>
            <a:pPr marL="690372" lvl="1" indent="-342900" eaLnBrk="0" fontAlgn="base" hangingPunct="0">
              <a:buFont typeface="Wingdings" panose="05000000000000000000" pitchFamily="2" charset="2"/>
              <a:buChar char="§"/>
            </a:pPr>
            <a:r>
              <a:rPr lang="en-US" b="1" dirty="0"/>
              <a:t>Vertical </a:t>
            </a:r>
            <a:r>
              <a:rPr lang="en-IN" b="1" dirty="0"/>
              <a:t> </a:t>
            </a:r>
            <a:endParaRPr lang="en-IN" dirty="0"/>
          </a:p>
          <a:p>
            <a:pPr marL="690372" lvl="1" indent="-342900" eaLnBrk="0" fontAlgn="base" hangingPunct="0">
              <a:buFont typeface="Wingdings" panose="05000000000000000000" pitchFamily="2" charset="2"/>
              <a:buChar char="§"/>
            </a:pPr>
            <a:r>
              <a:rPr lang="en-US" b="1" dirty="0"/>
              <a:t>Diagonal  </a:t>
            </a:r>
          </a:p>
          <a:p>
            <a:pPr marL="690372" lvl="1" indent="-342900" eaLnBrk="0" fontAlgn="base" hangingPunct="0">
              <a:buFont typeface="Wingdings" panose="05000000000000000000" pitchFamily="2" charset="2"/>
              <a:buChar char="§"/>
            </a:pPr>
            <a:r>
              <a:rPr lang="en-IN" b="1" dirty="0"/>
              <a:t>Bottom Row</a:t>
            </a:r>
            <a:endParaRPr lang="en-US" b="1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eaLnBrk="0" fontAlgn="base" hangingPunct="0">
              <a:buFont typeface="Wingdings" panose="05000000000000000000" pitchFamily="2" charset="2"/>
              <a:buChar char="Ø"/>
            </a:pPr>
            <a:r>
              <a:rPr lang="en-US" i="1" dirty="0"/>
              <a:t>Visual:</a:t>
            </a:r>
            <a:r>
              <a:rPr lang="en-US" dirty="0"/>
              <a:t> CT slice with rays from 4 directions </a:t>
            </a:r>
          </a:p>
          <a:p>
            <a:pPr eaLnBrk="0" fontAlgn="base" hangingPunct="0"/>
            <a:r>
              <a:rPr lang="en-US" dirty="0"/>
              <a:t>	(H, V, D, B).</a:t>
            </a:r>
            <a:endParaRPr lang="en-IN" dirty="0"/>
          </a:p>
          <a:p>
            <a:endParaRPr lang="en-IN" dirty="0"/>
          </a:p>
        </p:txBody>
      </p:sp>
      <p:pic>
        <p:nvPicPr>
          <p:cNvPr id="5128" name="Picture 8" descr="Extract connected components in order">
            <a:extLst>
              <a:ext uri="{FF2B5EF4-FFF2-40B4-BE49-F238E27FC236}">
                <a16:creationId xmlns:a16="http://schemas.microsoft.com/office/drawing/2014/main" id="{16ADB4E5-5879-AAD8-C0A2-9137ACCA4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018" y="1935407"/>
            <a:ext cx="5598982" cy="420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1F24-6EED-43D2-B847-EB96AE24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B652-2F5B-A5B5-C6FD-84FB5F7F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483555"/>
            <a:ext cx="10511627" cy="1012785"/>
          </a:xfrm>
        </p:spPr>
        <p:txBody>
          <a:bodyPr/>
          <a:lstStyle/>
          <a:p>
            <a:r>
              <a:rPr lang="en-IN" sz="3400" dirty="0">
                <a:solidFill>
                  <a:schemeClr val="accent5">
                    <a:lumMod val="50000"/>
                  </a:schemeClr>
                </a:solidFill>
              </a:rPr>
              <a:t>Turning Projections into </a:t>
            </a:r>
            <a:br>
              <a:rPr lang="en-IN" sz="34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sz="3400" dirty="0">
                <a:solidFill>
                  <a:schemeClr val="accent5">
                    <a:lumMod val="50000"/>
                  </a:schemeClr>
                </a:solidFill>
              </a:rPr>
              <a:t>Linear Equations</a:t>
            </a:r>
            <a:endParaRPr lang="en-US" sz="3400" dirty="0">
              <a:solidFill>
                <a:schemeClr val="accent5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2">
                <a:extLst>
                  <a:ext uri="{FF2B5EF4-FFF2-40B4-BE49-F238E27FC236}">
                    <a16:creationId xmlns:a16="http://schemas.microsoft.com/office/drawing/2014/main" id="{BBE82A0F-F647-A033-757B-B0CDE0FCE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186" y="1687846"/>
                <a:ext cx="10706100" cy="4267200"/>
              </a:xfrm>
              <a:prstGeom prst="rect">
                <a:avLst/>
              </a:prstGeom>
            </p:spPr>
            <p:txBody>
              <a:bodyPr/>
              <a:lstStyle>
                <a:lvl1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Unknowns: pixel values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1, 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2, 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3,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Where, 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n-US" sz="2500" dirty="0"/>
                  <a:t>: Horizontal projection 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500" dirty="0"/>
                  <a:t>: Vertical Projection </a:t>
                </a:r>
              </a:p>
              <a:p>
                <a:pPr marL="0" indent="0">
                  <a:buNone/>
                </a:pPr>
                <a:r>
                  <a:rPr lang="en-IN" sz="25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500" dirty="0"/>
                  <a:t>: Diagonal projection   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500" dirty="0"/>
                  <a:t>: Bottom Row Projection</a:t>
                </a:r>
              </a:p>
              <a:p>
                <a:pPr marL="0" indent="0">
                  <a:buNone/>
                </a:pPr>
                <a:endParaRPr lang="en-US" sz="2500" dirty="0"/>
              </a:p>
              <a:p>
                <a:r>
                  <a:rPr lang="en-US" sz="2500" dirty="0"/>
                  <a:t>Projection Readings:</a:t>
                </a:r>
              </a:p>
              <a:p>
                <a:pPr marL="0" indent="0">
                  <a:buNone/>
                </a:pP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=150 , 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sz="2500" dirty="0">
                  <a:solidFill>
                    <a:schemeClr val="tx1"/>
                  </a:solidFill>
                </a:endParaRPr>
              </a:p>
              <a:p>
                <a:r>
                  <a:rPr lang="en-IN" sz="2400" dirty="0"/>
                  <a:t>Matrix form : </a:t>
                </a:r>
                <a:r>
                  <a:rPr lang="en-IN" sz="2400" dirty="0">
                    <a:solidFill>
                      <a:schemeClr val="tx1"/>
                    </a:solidFill>
                  </a:rPr>
                  <a:t>AX=B</a:t>
                </a: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chemeClr val="tx1"/>
                    </a:solidFill>
                  </a:rPr>
                  <a:t> </a:t>
                </a:r>
                <a:r>
                  <a:rPr lang="en-IN" sz="2200" dirty="0"/>
                  <a:t>A = Coefficient Matrix , X = Pixel Intensities , B = Projection (Measurement) Vector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 Placeholder 2">
                <a:extLst>
                  <a:ext uri="{FF2B5EF4-FFF2-40B4-BE49-F238E27FC236}">
                    <a16:creationId xmlns:a16="http://schemas.microsoft.com/office/drawing/2014/main" id="{BBE82A0F-F647-A033-757B-B0CDE0FC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86" y="1687846"/>
                <a:ext cx="10706100" cy="4267200"/>
              </a:xfrm>
              <a:prstGeom prst="rect">
                <a:avLst/>
              </a:prstGeom>
              <a:blipFill>
                <a:blip r:embed="rId3"/>
                <a:stretch>
                  <a:fillRect l="-1025" t="-1429" b="-7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18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0120-8E3A-C37F-ADBA-EE8F5B0E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5729-37B2-5AC2-CC3A-042B1E33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5" y="-958147"/>
            <a:ext cx="10055331" cy="2495028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Linear Equations in Imaging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A3A6B-6B15-CC2A-1246-D9ECBDE25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572" y="1945226"/>
            <a:ext cx="10417215" cy="2152212"/>
          </a:xfrm>
        </p:spPr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 Each ray is </a:t>
            </a:r>
            <a:r>
              <a:rPr lang="en-IN" altLang="en-US" dirty="0">
                <a:solidFill>
                  <a:schemeClr val="tx1"/>
                </a:solidFill>
                <a:latin typeface="Sabon Next LT (Body)"/>
              </a:rPr>
              <a:t>represented by a</a:t>
            </a: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 L</a:t>
            </a:r>
            <a:r>
              <a:rPr lang="en-US" altLang="en-US" b="1" dirty="0">
                <a:solidFill>
                  <a:schemeClr val="tx1"/>
                </a:solidFill>
                <a:latin typeface="Sabon Next LT (Body)"/>
              </a:rPr>
              <a:t>inear Equation</a:t>
            </a: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Sabon Next LT (Body)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 Whereas all rays together are represented by S</a:t>
            </a:r>
            <a:r>
              <a:rPr lang="en-US" altLang="en-US" b="1" dirty="0">
                <a:solidFill>
                  <a:schemeClr val="tx1"/>
                </a:solidFill>
                <a:latin typeface="Sabon Next LT (Body)"/>
              </a:rPr>
              <a:t>ystem of equations</a:t>
            </a: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Sabon Next LT (Body)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abon Next LT (Body)"/>
              </a:rPr>
              <a:t> Image reconstruction = Solving for unknown pixel intensities.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Sabon Next LT (Body)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Sabon Next LT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4FC10-75BD-CDB3-D99D-20BDA72BF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026" y="4505783"/>
            <a:ext cx="6896167" cy="215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5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A17D-8B1E-3E68-C519-7AF4D4E5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107EE-6DE9-E7AC-72F8-994D8C42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483555"/>
            <a:ext cx="10511627" cy="1012785"/>
          </a:xfrm>
        </p:spPr>
        <p:txBody>
          <a:bodyPr/>
          <a:lstStyle/>
          <a:p>
            <a:r>
              <a:rPr lang="en-IN" sz="3200" dirty="0"/>
              <a:t>Using Gauss Elimination</a:t>
            </a:r>
            <a:endParaRPr lang="en-US" sz="3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C40587-92FC-84EC-BC79-CAFFF61183BB}"/>
              </a:ext>
            </a:extLst>
          </p:cNvPr>
          <p:cNvSpPr txBox="1">
            <a:spLocks/>
          </p:cNvSpPr>
          <p:nvPr/>
        </p:nvSpPr>
        <p:spPr>
          <a:xfrm>
            <a:off x="840186" y="1687846"/>
            <a:ext cx="10706100" cy="4267200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1: Convert equations → triangular form.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 2: Apply back-substitution to solve unknowns.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Example solution: Pixel intensities recovered.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4C114-2310-6382-815A-AB1CB953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4" y="3987159"/>
            <a:ext cx="3208298" cy="1181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5E69C8-04A1-D474-4031-EE21A4036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305" y="3147608"/>
            <a:ext cx="3925862" cy="3561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BE5B0D-AA7D-78D0-82A1-6791BB80D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332" y="4425347"/>
            <a:ext cx="2933954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202F-EB0E-7F39-2E90-00E9F29A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0C7D-8D09-5F14-92A4-DB2C872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199075"/>
            <a:ext cx="10511627" cy="1012785"/>
          </a:xfrm>
        </p:spPr>
        <p:txBody>
          <a:bodyPr/>
          <a:lstStyle/>
          <a:p>
            <a:r>
              <a:rPr lang="en-IN" sz="3400" dirty="0" err="1">
                <a:solidFill>
                  <a:schemeClr val="accent5">
                    <a:lumMod val="50000"/>
                  </a:schemeClr>
                </a:solidFill>
              </a:rPr>
              <a:t>AnALYSIS</a:t>
            </a:r>
            <a:endParaRPr lang="en-US" sz="3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FA4D7090-C74A-3D4A-1D81-AEC0E5F46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2" t="2153" r="63253" b="64273"/>
          <a:stretch>
            <a:fillRect/>
          </a:stretch>
        </p:blipFill>
        <p:spPr bwMode="auto">
          <a:xfrm>
            <a:off x="1877961" y="1557908"/>
            <a:ext cx="2792362" cy="4904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E43E0155-68CB-3978-EBC5-49069F8B15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77172" r="28313"/>
          <a:stretch>
            <a:fillRect/>
          </a:stretch>
        </p:blipFill>
        <p:spPr bwMode="auto">
          <a:xfrm>
            <a:off x="6823588" y="1557908"/>
            <a:ext cx="3893574" cy="319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21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39" y="590446"/>
            <a:ext cx="5715000" cy="2727709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740679"/>
            <a:ext cx="5715000" cy="2234642"/>
          </a:xfrm>
        </p:spPr>
        <p:txBody>
          <a:bodyPr/>
          <a:lstStyle/>
          <a:p>
            <a:r>
              <a:rPr lang="en-US" dirty="0"/>
              <a:t>NEEL PATEL</a:t>
            </a:r>
          </a:p>
          <a:p>
            <a:r>
              <a:rPr lang="en-US" dirty="0"/>
              <a:t>25MAI011@sot.pdpu.ac.in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{D9366678-2D94-4778-9B15-7799BCF9278B}tf78438558_win32</Template>
  <TotalTime>1869</TotalTime>
  <Words>250</Words>
  <Application>Microsoft Office PowerPoint</Application>
  <PresentationFormat>Widescreen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Cambria Math</vt:lpstr>
      <vt:lpstr>Sabon Next LT</vt:lpstr>
      <vt:lpstr>Sabon Next LT (Body)</vt:lpstr>
      <vt:lpstr>Wingdings</vt:lpstr>
      <vt:lpstr>Custom</vt:lpstr>
      <vt:lpstr>PowerPoint Presentation</vt:lpstr>
      <vt:lpstr>Why Do We Need Image Reconstruction?</vt:lpstr>
      <vt:lpstr>Turning Projections into  Linear Equations</vt:lpstr>
      <vt:lpstr>Linear Equations in Imaging</vt:lpstr>
      <vt:lpstr>Using Gauss Elimination</vt:lpstr>
      <vt:lpstr>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NEEL PATEL</dc:creator>
  <cp:lastModifiedBy>NEEL PATEL</cp:lastModifiedBy>
  <cp:revision>5</cp:revision>
  <dcterms:created xsi:type="dcterms:W3CDTF">2025-08-12T07:58:16Z</dcterms:created>
  <dcterms:modified xsi:type="dcterms:W3CDTF">2026-01-14T06:27:13Z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