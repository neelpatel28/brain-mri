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56" r:id="rId2"/>
    <p:sldId id="266" r:id="rId3"/>
    <p:sldId id="257" r:id="rId4"/>
    <p:sldId id="259" r:id="rId5"/>
    <p:sldId id="260" r:id="rId6"/>
    <p:sldId id="262" r:id="rId7"/>
    <p:sldId id="261" r:id="rId8"/>
    <p:sldId id="270" r:id="rId9"/>
    <p:sldId id="265" r:id="rId10"/>
    <p:sldId id="267" r:id="rId11"/>
    <p:sldId id="269" r:id="rId12"/>
    <p:sldId id="268" r:id="rId13"/>
  </p:sldIdLst>
  <p:sldSz cx="14630400" cy="8229600"/>
  <p:notesSz cx="8229600" cy="14630400"/>
  <p:embeddedFontLst>
    <p:embeddedFont>
      <p:font typeface="Inter" panose="020B0604020202020204" charset="0"/>
      <p:regular r:id="rId15"/>
    </p:embeddedFont>
    <p:embeddedFont>
      <p:font typeface="Lora" pitchFamily="2" charset="0"/>
      <p:regular r:id="rId16"/>
      <p:bold r:id="rId17"/>
    </p:embeddedFont>
    <p:embeddedFont>
      <p:font typeface="Lora Bold"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74108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27E1B-ED46-C6D6-457B-78D79D1016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6D2157-CB39-346D-0ED2-48DFD24CE0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6526C4-A86F-F53E-AFB6-0417EAB54D4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27F2CA0-5EBC-2559-DB78-F8F51786C417}"/>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8602913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073059-9135-4D67-F02A-6CB82BA24C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D64214-D3DB-776D-C3D4-85F41B5B15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673E52-A8EB-88D0-ECF0-0020C87368A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CEB6A7C-EC76-475E-AF94-8F1F0548D07D}"/>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981184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4E947-F19B-A789-183E-9CD42CA337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4FBF84-28ED-B133-079F-AB2813216F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1ACE89-CDE4-1385-A490-DEC98E80F33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B2B3A1F-1028-1D96-E0ED-7949634FFE26}"/>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7591164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BBEBC-CBF2-681E-DBEE-04E1544960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B10A8A-9F75-1C40-8E8A-F2F40C3489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15FCDA-1240-1B49-5FAA-09A6F960178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C415086-8AE8-9249-C6B6-DA922F3F6F21}"/>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9487601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9.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9"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25.png"/><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8" Type="http://schemas.openxmlformats.org/officeDocument/2006/relationships/image" Target="../media/image31.svg"/><Relationship Id="rId13" Type="http://schemas.openxmlformats.org/officeDocument/2006/relationships/image" Target="../media/image35.png"/><Relationship Id="rId3" Type="http://schemas.openxmlformats.org/officeDocument/2006/relationships/image" Target="../media/image26.png"/><Relationship Id="rId7" Type="http://schemas.openxmlformats.org/officeDocument/2006/relationships/image" Target="../media/image30.png"/><Relationship Id="rId12" Type="http://schemas.openxmlformats.org/officeDocument/2006/relationships/image" Target="../media/image34.png"/><Relationship Id="rId2" Type="http://schemas.openxmlformats.org/officeDocument/2006/relationships/notesSlide" Target="../notesSlides/notesSlide8.xml"/><Relationship Id="rId1" Type="http://schemas.openxmlformats.org/officeDocument/2006/relationships/slideLayout" Target="../slideLayouts/slideLayout11.xml"/><Relationship Id="rId6" Type="http://schemas.openxmlformats.org/officeDocument/2006/relationships/image" Target="../media/image29.svg"/><Relationship Id="rId11" Type="http://schemas.openxmlformats.org/officeDocument/2006/relationships/image" Target="../media/image33.png"/><Relationship Id="rId5" Type="http://schemas.openxmlformats.org/officeDocument/2006/relationships/image" Target="../media/image28.png"/><Relationship Id="rId15" Type="http://schemas.openxmlformats.org/officeDocument/2006/relationships/image" Target="../media/image37.png"/><Relationship Id="rId10" Type="http://schemas.openxmlformats.org/officeDocument/2006/relationships/image" Target="../media/image32.png"/><Relationship Id="rId4" Type="http://schemas.openxmlformats.org/officeDocument/2006/relationships/image" Target="../media/image27.svg"/><Relationship Id="rId9" Type="http://schemas.openxmlformats.org/officeDocument/2006/relationships/image" Target="../media/image3.png"/><Relationship Id="rId14" Type="http://schemas.openxmlformats.org/officeDocument/2006/relationships/image" Target="../media/image36.png"/></Relationships>
</file>

<file path=ppt/slides/_rels/slide10.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 Id="rId9" Type="http://schemas.openxmlformats.org/officeDocument/2006/relationships/image" Target="../media/image44.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1.xml"/><Relationship Id="rId4" Type="http://schemas.openxmlformats.org/officeDocument/2006/relationships/image" Target="../media/image45.jpeg"/></Relationships>
</file>

<file path=ppt/slides/_rels/slide1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l="-6962" r="6962"/>
          <a:stretch>
            <a:fillRect/>
          </a:stretch>
        </p:blipFill>
        <p:spPr>
          <a:xfrm>
            <a:off x="-420666" y="0"/>
            <a:ext cx="5486400" cy="8229600"/>
          </a:xfrm>
          <a:prstGeom prst="rect">
            <a:avLst/>
          </a:prstGeom>
        </p:spPr>
      </p:pic>
      <p:sp>
        <p:nvSpPr>
          <p:cNvPr id="3" name="Text 0"/>
          <p:cNvSpPr/>
          <p:nvPr/>
        </p:nvSpPr>
        <p:spPr>
          <a:xfrm>
            <a:off x="5538172" y="1097476"/>
            <a:ext cx="7923491" cy="1417558"/>
          </a:xfrm>
          <a:prstGeom prst="rect">
            <a:avLst/>
          </a:prstGeom>
          <a:noFill/>
          <a:ln/>
        </p:spPr>
        <p:txBody>
          <a:bodyPr wrap="squar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Generative Adversarial Networks in Medical </a:t>
            </a:r>
          </a:p>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Image Reconstruction – A Systematic Literature Review</a:t>
            </a:r>
            <a:endParaRPr lang="en-US" sz="4450" dirty="0"/>
          </a:p>
        </p:txBody>
      </p:sp>
      <p:sp>
        <p:nvSpPr>
          <p:cNvPr id="4" name="Text 1"/>
          <p:cNvSpPr/>
          <p:nvPr/>
        </p:nvSpPr>
        <p:spPr>
          <a:xfrm>
            <a:off x="6280189" y="4630698"/>
            <a:ext cx="7556421" cy="725805"/>
          </a:xfrm>
          <a:prstGeom prst="rect">
            <a:avLst/>
          </a:prstGeom>
          <a:noFill/>
          <a:ln/>
        </p:spPr>
        <p:txBody>
          <a:bodyPr wrap="square" lIns="0" tIns="0" rIns="0" bIns="0" rtlCol="0" anchor="t"/>
          <a:lstStyle/>
          <a:p>
            <a:pPr marL="0" indent="0" algn="l">
              <a:lnSpc>
                <a:spcPts val="2850"/>
              </a:lnSpc>
              <a:buNone/>
            </a:pPr>
            <a:endParaRPr lang="en-US" sz="1750" dirty="0"/>
          </a:p>
        </p:txBody>
      </p:sp>
      <p:pic>
        <p:nvPicPr>
          <p:cNvPr id="6" name="Picture 5">
            <a:extLst>
              <a:ext uri="{FF2B5EF4-FFF2-40B4-BE49-F238E27FC236}">
                <a16:creationId xmlns:a16="http://schemas.microsoft.com/office/drawing/2014/main" id="{6121CF20-5BD8-65A5-634E-FB3DB383763E}"/>
              </a:ext>
            </a:extLst>
          </p:cNvPr>
          <p:cNvPicPr>
            <a:picLocks noChangeAspect="1"/>
          </p:cNvPicPr>
          <p:nvPr/>
        </p:nvPicPr>
        <p:blipFill>
          <a:blip r:embed="rId4"/>
          <a:stretch>
            <a:fillRect/>
          </a:stretch>
        </p:blipFill>
        <p:spPr>
          <a:xfrm>
            <a:off x="11610713" y="7649738"/>
            <a:ext cx="2918673" cy="568712"/>
          </a:xfrm>
          <a:prstGeom prst="rect">
            <a:avLst/>
          </a:prstGeom>
        </p:spPr>
      </p:pic>
      <p:sp>
        <p:nvSpPr>
          <p:cNvPr id="7" name="Text 1">
            <a:extLst>
              <a:ext uri="{FF2B5EF4-FFF2-40B4-BE49-F238E27FC236}">
                <a16:creationId xmlns:a16="http://schemas.microsoft.com/office/drawing/2014/main" id="{2BD8B6EA-6F5F-09D3-C076-A051CC1DBFC2}"/>
              </a:ext>
            </a:extLst>
          </p:cNvPr>
          <p:cNvSpPr/>
          <p:nvPr/>
        </p:nvSpPr>
        <p:spPr>
          <a:xfrm>
            <a:off x="5559465" y="4280665"/>
            <a:ext cx="7556421" cy="725805"/>
          </a:xfrm>
          <a:prstGeom prst="rect">
            <a:avLst/>
          </a:prstGeom>
          <a:noFill/>
          <a:ln/>
        </p:spPr>
        <p:txBody>
          <a:bodyPr wrap="square" lIns="0" tIns="0" rIns="0" bIns="0" rtlCol="0" anchor="t"/>
          <a:lstStyle/>
          <a:p>
            <a:pPr>
              <a:lnSpc>
                <a:spcPts val="2850"/>
              </a:lnSpc>
            </a:pPr>
            <a:r>
              <a:rPr lang="en-US" dirty="0"/>
              <a:t>Jabbar Hussain, Magnus </a:t>
            </a:r>
            <a:r>
              <a:rPr lang="en-US" dirty="0" err="1"/>
              <a:t>Båth</a:t>
            </a:r>
            <a:r>
              <a:rPr lang="en-US" dirty="0"/>
              <a:t>, Jonas Ivarsson – Elsevier (Computers in Biology and Medicine Journal</a:t>
            </a:r>
            <a:endParaRPr lang="en-US" sz="1750" dirty="0"/>
          </a:p>
        </p:txBody>
      </p:sp>
      <p:sp>
        <p:nvSpPr>
          <p:cNvPr id="5" name="Text 1">
            <a:extLst>
              <a:ext uri="{FF2B5EF4-FFF2-40B4-BE49-F238E27FC236}">
                <a16:creationId xmlns:a16="http://schemas.microsoft.com/office/drawing/2014/main" id="{A4064A4F-E163-1241-1497-5C7AB55E51DD}"/>
              </a:ext>
            </a:extLst>
          </p:cNvPr>
          <p:cNvSpPr/>
          <p:nvPr/>
        </p:nvSpPr>
        <p:spPr>
          <a:xfrm>
            <a:off x="5261077" y="6443330"/>
            <a:ext cx="6349636" cy="1041229"/>
          </a:xfrm>
          <a:prstGeom prst="rect">
            <a:avLst/>
          </a:prstGeom>
          <a:noFill/>
          <a:ln/>
        </p:spPr>
        <p:txBody>
          <a:bodyPr wrap="square" lIns="0" tIns="0" rIns="0" bIns="0" rtlCol="0" anchor="t"/>
          <a:lstStyle/>
          <a:p>
            <a:r>
              <a:rPr lang="en-US" sz="1600" b="1" dirty="0">
                <a:latin typeface="Lora "/>
              </a:rPr>
              <a:t>Presented by : </a:t>
            </a:r>
          </a:p>
          <a:p>
            <a:endParaRPr lang="en-US" sz="1600" b="1" dirty="0">
              <a:latin typeface="Lora "/>
            </a:endParaRPr>
          </a:p>
          <a:p>
            <a:r>
              <a:rPr lang="en-US" sz="1600" b="1" dirty="0">
                <a:latin typeface="Lora "/>
              </a:rPr>
              <a:t>Neel Patel  </a:t>
            </a:r>
          </a:p>
          <a:p>
            <a:endParaRPr lang="en-US" sz="1600" b="1" dirty="0">
              <a:latin typeface="Lora "/>
            </a:endParaRPr>
          </a:p>
          <a:p>
            <a:endParaRPr lang="en-IN" sz="1600" b="1" dirty="0">
              <a:latin typeface="Lora "/>
            </a:endParaRPr>
          </a:p>
        </p:txBody>
      </p:sp>
      <p:sp>
        <p:nvSpPr>
          <p:cNvPr id="8" name="Freeform 7">
            <a:extLst>
              <a:ext uri="{FF2B5EF4-FFF2-40B4-BE49-F238E27FC236}">
                <a16:creationId xmlns:a16="http://schemas.microsoft.com/office/drawing/2014/main" id="{FDFEB89C-0A24-1633-886B-378ADD40D663}"/>
              </a:ext>
            </a:extLst>
          </p:cNvPr>
          <p:cNvSpPr/>
          <p:nvPr/>
        </p:nvSpPr>
        <p:spPr>
          <a:xfrm>
            <a:off x="12377854" y="131976"/>
            <a:ext cx="1985926" cy="1931000"/>
          </a:xfrm>
          <a:custGeom>
            <a:avLst/>
            <a:gdLst/>
            <a:ahLst/>
            <a:cxnLst/>
            <a:rect l="l" t="t" r="r" b="b"/>
            <a:pathLst>
              <a:path w="4652752" h="4898998">
                <a:moveTo>
                  <a:pt x="0" y="0"/>
                </a:moveTo>
                <a:lnTo>
                  <a:pt x="4652752" y="0"/>
                </a:lnTo>
                <a:lnTo>
                  <a:pt x="4652752" y="4898997"/>
                </a:lnTo>
                <a:lnTo>
                  <a:pt x="0" y="4898997"/>
                </a:lnTo>
                <a:lnTo>
                  <a:pt x="0" y="0"/>
                </a:lnTo>
                <a:close/>
              </a:path>
            </a:pathLst>
          </a:custGeom>
          <a:blipFill>
            <a:blip r:embed="rId5"/>
            <a:stretch>
              <a:fillRect/>
            </a:stretch>
          </a:blipFill>
        </p:spPr>
        <p:txBody>
          <a:bodyPr/>
          <a:lstStyle/>
          <a:p>
            <a:endParaRPr lang="en-IN"/>
          </a:p>
        </p:txBody>
      </p:sp>
      <p:sp>
        <p:nvSpPr>
          <p:cNvPr id="10" name="TextBox 9">
            <a:extLst>
              <a:ext uri="{FF2B5EF4-FFF2-40B4-BE49-F238E27FC236}">
                <a16:creationId xmlns:a16="http://schemas.microsoft.com/office/drawing/2014/main" id="{FA98F51F-2400-F3BD-B976-6D3323BD825B}"/>
              </a:ext>
            </a:extLst>
          </p:cNvPr>
          <p:cNvSpPr txBox="1"/>
          <p:nvPr/>
        </p:nvSpPr>
        <p:spPr>
          <a:xfrm>
            <a:off x="9564668" y="5730872"/>
            <a:ext cx="5330524" cy="1723549"/>
          </a:xfrm>
          <a:prstGeom prst="rect">
            <a:avLst/>
          </a:prstGeom>
          <a:noFill/>
        </p:spPr>
        <p:txBody>
          <a:bodyPr wrap="square">
            <a:spAutoFit/>
          </a:bodyPr>
          <a:lstStyle/>
          <a:p>
            <a:pPr algn="ctr">
              <a:lnSpc>
                <a:spcPts val="4200"/>
              </a:lnSpc>
              <a:spcBef>
                <a:spcPct val="0"/>
              </a:spcBef>
            </a:pPr>
            <a:r>
              <a:rPr lang="en-US" b="1" dirty="0">
                <a:latin typeface="Lora Bold" charset="0"/>
                <a:ea typeface="Lora Bold"/>
                <a:cs typeface="Lora Bold"/>
                <a:sym typeface="Lora Bold"/>
              </a:rPr>
              <a:t>Submitted to:</a:t>
            </a:r>
            <a:endParaRPr lang="en-US" sz="1800" b="1" dirty="0">
              <a:latin typeface="Lora Bold" charset="0"/>
              <a:ea typeface="Lora Bold"/>
              <a:cs typeface="Lora Bold"/>
              <a:sym typeface="Lora Bold"/>
            </a:endParaRPr>
          </a:p>
          <a:p>
            <a:pPr algn="ctr">
              <a:lnSpc>
                <a:spcPts val="4200"/>
              </a:lnSpc>
              <a:spcBef>
                <a:spcPct val="0"/>
              </a:spcBef>
            </a:pPr>
            <a:r>
              <a:rPr lang="en-US" sz="1800" b="1" dirty="0">
                <a:latin typeface="Lora Bold" charset="0"/>
                <a:ea typeface="Lora Bold"/>
                <a:cs typeface="Lora Bold"/>
                <a:sym typeface="Lora Bold"/>
              </a:rPr>
              <a:t>Dr. </a:t>
            </a:r>
            <a:r>
              <a:rPr lang="en-US" sz="1800" b="1" dirty="0" err="1">
                <a:latin typeface="Lora Bold" charset="0"/>
                <a:ea typeface="Lora Bold"/>
                <a:cs typeface="Lora Bold"/>
                <a:sym typeface="Lora Bold"/>
              </a:rPr>
              <a:t>Mohendra</a:t>
            </a:r>
            <a:r>
              <a:rPr lang="en-US" sz="1800" b="1" dirty="0">
                <a:latin typeface="Lora Bold" charset="0"/>
                <a:ea typeface="Lora Bold"/>
                <a:cs typeface="Lora Bold"/>
                <a:sym typeface="Lora Bold"/>
              </a:rPr>
              <a:t> Roy</a:t>
            </a:r>
          </a:p>
          <a:p>
            <a:pPr fontAlgn="base"/>
            <a:r>
              <a:rPr lang="en-US" b="1" dirty="0">
                <a:latin typeface="Lora Bold" charset="0"/>
              </a:rPr>
              <a:t>Faculty Coordinator - M. Tech. AI Program</a:t>
            </a:r>
          </a:p>
          <a:p>
            <a:pPr fontAlgn="base"/>
            <a:r>
              <a:rPr lang="en-US" sz="1800" b="1" dirty="0">
                <a:latin typeface="Lora Bold" charset="0"/>
                <a:ea typeface="Lora Bold"/>
                <a:cs typeface="Lora Bold"/>
                <a:sym typeface="Lora Bold"/>
              </a:rPr>
              <a:t>Pandit Deendayal Energy University- PDEU</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4"/>
          <p:cNvSpPr/>
          <p:nvPr/>
        </p:nvSpPr>
        <p:spPr>
          <a:xfrm>
            <a:off x="121921" y="6918960"/>
            <a:ext cx="1541074" cy="1179622"/>
          </a:xfrm>
          <a:custGeom>
            <a:avLst/>
            <a:gdLst/>
            <a:ahLst/>
            <a:cxnLst/>
            <a:rect l="l" t="t" r="r" b="b"/>
            <a:pathLst>
              <a:path w="1926343" h="1474528">
                <a:moveTo>
                  <a:pt x="0" y="0"/>
                </a:moveTo>
                <a:lnTo>
                  <a:pt x="1926343" y="0"/>
                </a:lnTo>
                <a:lnTo>
                  <a:pt x="1926343" y="1474528"/>
                </a:lnTo>
                <a:lnTo>
                  <a:pt x="0" y="1474528"/>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IN" sz="1440"/>
          </a:p>
        </p:txBody>
      </p:sp>
      <p:sp>
        <p:nvSpPr>
          <p:cNvPr id="5" name="Freeform 5"/>
          <p:cNvSpPr/>
          <p:nvPr/>
        </p:nvSpPr>
        <p:spPr>
          <a:xfrm>
            <a:off x="12984481" y="30480"/>
            <a:ext cx="1541074" cy="1179622"/>
          </a:xfrm>
          <a:custGeom>
            <a:avLst/>
            <a:gdLst/>
            <a:ahLst/>
            <a:cxnLst/>
            <a:rect l="l" t="t" r="r" b="b"/>
            <a:pathLst>
              <a:path w="1926343" h="1474528">
                <a:moveTo>
                  <a:pt x="0" y="0"/>
                </a:moveTo>
                <a:lnTo>
                  <a:pt x="1926343" y="0"/>
                </a:lnTo>
                <a:lnTo>
                  <a:pt x="1926343" y="1474528"/>
                </a:lnTo>
                <a:lnTo>
                  <a:pt x="0" y="1474528"/>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IN" sz="1440"/>
          </a:p>
        </p:txBody>
      </p:sp>
      <p:sp>
        <p:nvSpPr>
          <p:cNvPr id="6" name="TextBox 6"/>
          <p:cNvSpPr txBox="1"/>
          <p:nvPr/>
        </p:nvSpPr>
        <p:spPr>
          <a:xfrm>
            <a:off x="4325914" y="-28447"/>
            <a:ext cx="5978574" cy="837409"/>
          </a:xfrm>
          <a:prstGeom prst="rect">
            <a:avLst/>
          </a:prstGeom>
        </p:spPr>
        <p:txBody>
          <a:bodyPr lIns="0" tIns="0" rIns="0" bIns="0" rtlCol="0" anchor="t">
            <a:spAutoFit/>
          </a:bodyPr>
          <a:lstStyle/>
          <a:p>
            <a:pPr>
              <a:lnSpc>
                <a:spcPts val="7216"/>
              </a:lnSpc>
              <a:spcBef>
                <a:spcPct val="0"/>
              </a:spcBef>
            </a:pPr>
            <a:r>
              <a:rPr lang="en-US" sz="4400" b="1" dirty="0">
                <a:latin typeface="Lora Bold"/>
                <a:ea typeface="Lora Bold"/>
                <a:cs typeface="Lora Bold"/>
                <a:sym typeface="Lora Bold"/>
              </a:rPr>
              <a:t>TABLE OF CONTENTS</a:t>
            </a:r>
          </a:p>
        </p:txBody>
      </p:sp>
      <p:grpSp>
        <p:nvGrpSpPr>
          <p:cNvPr id="7" name="Group 7"/>
          <p:cNvGrpSpPr/>
          <p:nvPr/>
        </p:nvGrpSpPr>
        <p:grpSpPr>
          <a:xfrm>
            <a:off x="4325914" y="1082040"/>
            <a:ext cx="5978574" cy="6690360"/>
            <a:chOff x="0" y="0"/>
            <a:chExt cx="1928413" cy="2157894"/>
          </a:xfrm>
        </p:grpSpPr>
        <p:sp>
          <p:nvSpPr>
            <p:cNvPr id="8" name="Freeform 8"/>
            <p:cNvSpPr/>
            <p:nvPr/>
          </p:nvSpPr>
          <p:spPr>
            <a:xfrm>
              <a:off x="0" y="0"/>
              <a:ext cx="1928413" cy="2157894"/>
            </a:xfrm>
            <a:custGeom>
              <a:avLst/>
              <a:gdLst/>
              <a:ahLst/>
              <a:cxnLst/>
              <a:rect l="l" t="t" r="r" b="b"/>
              <a:pathLst>
                <a:path w="1928413" h="2157894">
                  <a:moveTo>
                    <a:pt x="0" y="0"/>
                  </a:moveTo>
                  <a:lnTo>
                    <a:pt x="1928413" y="0"/>
                  </a:lnTo>
                  <a:lnTo>
                    <a:pt x="1928413" y="2157894"/>
                  </a:lnTo>
                  <a:lnTo>
                    <a:pt x="0" y="2157894"/>
                  </a:lnTo>
                  <a:close/>
                </a:path>
              </a:pathLst>
            </a:custGeom>
            <a:solidFill>
              <a:srgbClr val="E1C16E">
                <a:alpha val="26667"/>
              </a:srgbClr>
            </a:solidFill>
          </p:spPr>
          <p:txBody>
            <a:bodyPr/>
            <a:lstStyle/>
            <a:p>
              <a:endParaRPr lang="en-IN" sz="1440" dirty="0"/>
            </a:p>
          </p:txBody>
        </p:sp>
        <p:sp>
          <p:nvSpPr>
            <p:cNvPr id="9" name="TextBox 9"/>
            <p:cNvSpPr txBox="1"/>
            <p:nvPr/>
          </p:nvSpPr>
          <p:spPr>
            <a:xfrm>
              <a:off x="0" y="-47625"/>
              <a:ext cx="1928413" cy="2205519"/>
            </a:xfrm>
            <a:prstGeom prst="rect">
              <a:avLst/>
            </a:prstGeom>
          </p:spPr>
          <p:txBody>
            <a:bodyPr lIns="40640" tIns="40640" rIns="40640" bIns="40640" rtlCol="0" anchor="ctr"/>
            <a:lstStyle/>
            <a:p>
              <a:pPr algn="ctr">
                <a:lnSpc>
                  <a:spcPts val="2303"/>
                </a:lnSpc>
              </a:pPr>
              <a:endParaRPr sz="1440"/>
            </a:p>
          </p:txBody>
        </p:sp>
      </p:grpSp>
      <p:sp>
        <p:nvSpPr>
          <p:cNvPr id="10" name="TextBox 10"/>
          <p:cNvSpPr txBox="1"/>
          <p:nvPr/>
        </p:nvSpPr>
        <p:spPr>
          <a:xfrm>
            <a:off x="4235596" y="951304"/>
            <a:ext cx="6159207" cy="13736068"/>
          </a:xfrm>
          <a:prstGeom prst="rect">
            <a:avLst/>
          </a:prstGeom>
        </p:spPr>
        <p:txBody>
          <a:bodyPr wrap="square" lIns="0" tIns="0" rIns="0" bIns="0" rtlCol="0" anchor="t">
            <a:spAutoFit/>
          </a:bodyPr>
          <a:lstStyle/>
          <a:p>
            <a:pPr marL="777240" lvl="1" indent="-388620">
              <a:lnSpc>
                <a:spcPct val="250000"/>
              </a:lnSpc>
              <a:buAutoNum type="arabicPeriod"/>
            </a:pPr>
            <a:r>
              <a:rPr lang="en-US" b="1" dirty="0">
                <a:latin typeface="Lora"/>
                <a:ea typeface="Lora"/>
                <a:cs typeface="Lora"/>
                <a:sym typeface="Lora"/>
              </a:rPr>
              <a:t>Introduction</a:t>
            </a:r>
          </a:p>
          <a:p>
            <a:pPr marL="777240" lvl="1" indent="-388620">
              <a:lnSpc>
                <a:spcPct val="250000"/>
              </a:lnSpc>
              <a:buAutoNum type="arabicPeriod"/>
            </a:pPr>
            <a:r>
              <a:rPr lang="en-US" b="1" dirty="0">
                <a:latin typeface="Lora"/>
                <a:ea typeface="Lora"/>
                <a:cs typeface="Lora"/>
                <a:sym typeface="Lora"/>
              </a:rPr>
              <a:t>Problem Statement and Objectives</a:t>
            </a:r>
          </a:p>
          <a:p>
            <a:pPr marL="777240" lvl="1" indent="-388620">
              <a:lnSpc>
                <a:spcPct val="250000"/>
              </a:lnSpc>
              <a:buAutoNum type="arabicPeriod"/>
            </a:pPr>
            <a:r>
              <a:rPr lang="en-US" b="1" dirty="0">
                <a:latin typeface="Lora"/>
                <a:ea typeface="Lora"/>
                <a:cs typeface="Lora"/>
                <a:sym typeface="Lora"/>
              </a:rPr>
              <a:t>GAN</a:t>
            </a:r>
          </a:p>
          <a:p>
            <a:pPr marL="777240" lvl="1" indent="-388620">
              <a:lnSpc>
                <a:spcPct val="250000"/>
              </a:lnSpc>
              <a:buAutoNum type="arabicPeriod"/>
            </a:pPr>
            <a:r>
              <a:rPr lang="en-US" b="1" dirty="0">
                <a:latin typeface="Lora"/>
                <a:ea typeface="Lora"/>
                <a:cs typeface="Lora"/>
                <a:sym typeface="Lora"/>
              </a:rPr>
              <a:t>Basic Principle</a:t>
            </a:r>
          </a:p>
          <a:p>
            <a:pPr marL="777240" lvl="1" indent="-388620">
              <a:lnSpc>
                <a:spcPct val="250000"/>
              </a:lnSpc>
              <a:buAutoNum type="arabicPeriod"/>
            </a:pPr>
            <a:r>
              <a:rPr lang="en-US" b="1" dirty="0">
                <a:latin typeface="Lora"/>
                <a:ea typeface="Lora"/>
                <a:cs typeface="Lora"/>
                <a:sym typeface="Lora"/>
              </a:rPr>
              <a:t>DCGANs </a:t>
            </a:r>
          </a:p>
          <a:p>
            <a:pPr marL="777240" lvl="1" indent="-388620">
              <a:lnSpc>
                <a:spcPct val="250000"/>
              </a:lnSpc>
              <a:buAutoNum type="arabicPeriod"/>
            </a:pPr>
            <a:r>
              <a:rPr lang="en-US" b="1" dirty="0">
                <a:latin typeface="Lora"/>
                <a:ea typeface="Lora"/>
                <a:cs typeface="Lora"/>
                <a:sym typeface="Lora"/>
              </a:rPr>
              <a:t>Working Flow</a:t>
            </a:r>
          </a:p>
          <a:p>
            <a:pPr marL="777240" lvl="1" indent="-388620">
              <a:lnSpc>
                <a:spcPct val="250000"/>
              </a:lnSpc>
              <a:buAutoNum type="arabicPeriod"/>
            </a:pPr>
            <a:r>
              <a:rPr lang="en-US" b="1" dirty="0">
                <a:latin typeface="Lora"/>
                <a:ea typeface="Lora"/>
                <a:cs typeface="Lora"/>
                <a:sym typeface="Lora"/>
              </a:rPr>
              <a:t>Evaluation Metrics</a:t>
            </a:r>
          </a:p>
          <a:p>
            <a:pPr marL="777240" lvl="1" indent="-388620">
              <a:lnSpc>
                <a:spcPct val="250000"/>
              </a:lnSpc>
              <a:buAutoNum type="arabicPeriod"/>
            </a:pPr>
            <a:r>
              <a:rPr lang="en-US" b="1" dirty="0">
                <a:latin typeface="Lora"/>
                <a:ea typeface="Lora"/>
                <a:cs typeface="Lora"/>
                <a:sym typeface="Lora"/>
              </a:rPr>
              <a:t>Advantages, Disadvantages &amp; Applications</a:t>
            </a:r>
          </a:p>
          <a:p>
            <a:pPr marL="777240" lvl="1" indent="-388620">
              <a:lnSpc>
                <a:spcPct val="250000"/>
              </a:lnSpc>
              <a:buAutoNum type="arabicPeriod"/>
            </a:pPr>
            <a:r>
              <a:rPr lang="en-US" b="1" dirty="0">
                <a:latin typeface="Lora"/>
                <a:ea typeface="Lora"/>
                <a:cs typeface="Lora"/>
                <a:sym typeface="Lora"/>
              </a:rPr>
              <a:t>Benchmark Results</a:t>
            </a:r>
          </a:p>
          <a:p>
            <a:pPr marL="777240" lvl="1" indent="-388620">
              <a:lnSpc>
                <a:spcPct val="250000"/>
              </a:lnSpc>
              <a:buAutoNum type="arabicPeriod"/>
            </a:pPr>
            <a:r>
              <a:rPr lang="en-US" b="1" dirty="0">
                <a:latin typeface="Lora"/>
                <a:ea typeface="Lora"/>
                <a:cs typeface="Lora"/>
                <a:sym typeface="Lora"/>
              </a:rPr>
              <a:t>Conclusion</a:t>
            </a:r>
          </a:p>
          <a:p>
            <a:pPr marL="777240" lvl="1" indent="-388620">
              <a:lnSpc>
                <a:spcPct val="250000"/>
              </a:lnSpc>
              <a:buAutoNum type="arabicPeriod"/>
            </a:pPr>
            <a:endParaRPr lang="en-US" b="1" dirty="0">
              <a:latin typeface="Lora"/>
              <a:ea typeface="Lora"/>
              <a:cs typeface="Lora"/>
              <a:sym typeface="Lora"/>
            </a:endParaRPr>
          </a:p>
          <a:p>
            <a:pPr marL="777240" lvl="1" indent="-388620">
              <a:lnSpc>
                <a:spcPct val="250000"/>
              </a:lnSpc>
              <a:buAutoNum type="arabicPeriod"/>
            </a:pPr>
            <a:endParaRPr lang="en-US" b="1" dirty="0">
              <a:latin typeface="Lora"/>
              <a:ea typeface="Lora"/>
              <a:cs typeface="Lora"/>
              <a:sym typeface="Lora"/>
            </a:endParaRPr>
          </a:p>
          <a:p>
            <a:pPr marL="388620" lvl="1">
              <a:lnSpc>
                <a:spcPct val="250000"/>
              </a:lnSpc>
            </a:pPr>
            <a:endParaRPr lang="en-US" b="1" dirty="0">
              <a:latin typeface="Lora"/>
              <a:ea typeface="Lora"/>
              <a:cs typeface="Lora"/>
              <a:sym typeface="Lora"/>
            </a:endParaRPr>
          </a:p>
          <a:p>
            <a:pPr marL="777240" lvl="1" indent="-388620">
              <a:lnSpc>
                <a:spcPct val="250000"/>
              </a:lnSpc>
              <a:buAutoNum type="arabicPeriod"/>
            </a:pPr>
            <a:endParaRPr lang="en-US" b="1" dirty="0">
              <a:latin typeface="Lora"/>
              <a:ea typeface="Lora"/>
              <a:cs typeface="Lora"/>
              <a:sym typeface="Lora"/>
            </a:endParaRPr>
          </a:p>
          <a:p>
            <a:pPr marL="777240" lvl="1" indent="-388620">
              <a:lnSpc>
                <a:spcPct val="250000"/>
              </a:lnSpc>
              <a:buAutoNum type="arabicPeriod"/>
            </a:pPr>
            <a:endParaRPr lang="en-US" b="1" dirty="0">
              <a:latin typeface="Lora"/>
              <a:ea typeface="Lora"/>
              <a:cs typeface="Lora"/>
              <a:sym typeface="Lora"/>
            </a:endParaRPr>
          </a:p>
          <a:p>
            <a:pPr marL="777240" lvl="1" indent="-388620">
              <a:lnSpc>
                <a:spcPct val="250000"/>
              </a:lnSpc>
              <a:buAutoNum type="arabicPeriod"/>
            </a:pPr>
            <a:endParaRPr lang="en-US" b="1" dirty="0">
              <a:latin typeface="Lora"/>
              <a:ea typeface="Lora"/>
              <a:cs typeface="Lora"/>
              <a:sym typeface="Lora"/>
            </a:endParaRPr>
          </a:p>
          <a:p>
            <a:pPr marL="777240" lvl="1" indent="-388620">
              <a:lnSpc>
                <a:spcPct val="250000"/>
              </a:lnSpc>
              <a:buAutoNum type="arabicPeriod"/>
            </a:pPr>
            <a:endParaRPr lang="en-US" b="1" dirty="0">
              <a:latin typeface="Lora"/>
              <a:ea typeface="Lora"/>
              <a:cs typeface="Lora"/>
              <a:sym typeface="Lora"/>
            </a:endParaRPr>
          </a:p>
          <a:p>
            <a:pPr marL="777240" lvl="1" indent="-388620">
              <a:lnSpc>
                <a:spcPct val="250000"/>
              </a:lnSpc>
              <a:buAutoNum type="arabicPeriod"/>
            </a:pPr>
            <a:endParaRPr lang="en-US" b="1" dirty="0">
              <a:latin typeface="Lora"/>
              <a:ea typeface="Lora"/>
              <a:cs typeface="Lora"/>
              <a:sym typeface="Lora"/>
            </a:endParaRPr>
          </a:p>
          <a:p>
            <a:pPr marL="388620" lvl="1">
              <a:lnSpc>
                <a:spcPct val="250000"/>
              </a:lnSpc>
            </a:pPr>
            <a:endParaRPr lang="en-US" b="1" dirty="0">
              <a:latin typeface="Lora"/>
              <a:ea typeface="Lora"/>
              <a:cs typeface="Lora"/>
              <a:sym typeface="Lora"/>
            </a:endParaRPr>
          </a:p>
          <a:p>
            <a:pPr marL="777240" lvl="1" indent="-388620">
              <a:lnSpc>
                <a:spcPct val="250000"/>
              </a:lnSpc>
              <a:buAutoNum type="arabicPeriod"/>
            </a:pPr>
            <a:endParaRPr lang="en-US" b="1" dirty="0">
              <a:latin typeface="Lora"/>
              <a:ea typeface="Lora"/>
              <a:cs typeface="Lora"/>
              <a:sym typeface="Lora"/>
            </a:endParaRPr>
          </a:p>
        </p:txBody>
      </p:sp>
      <p:pic>
        <p:nvPicPr>
          <p:cNvPr id="2" name="Picture 1">
            <a:extLst>
              <a:ext uri="{FF2B5EF4-FFF2-40B4-BE49-F238E27FC236}">
                <a16:creationId xmlns:a16="http://schemas.microsoft.com/office/drawing/2014/main" id="{D04418CD-BA7C-DC9B-851F-95E9513C25EA}"/>
              </a:ext>
            </a:extLst>
          </p:cNvPr>
          <p:cNvPicPr>
            <a:picLocks noChangeAspect="1"/>
          </p:cNvPicPr>
          <p:nvPr/>
        </p:nvPicPr>
        <p:blipFill>
          <a:blip r:embed="rId4"/>
          <a:stretch>
            <a:fillRect/>
          </a:stretch>
        </p:blipFill>
        <p:spPr>
          <a:xfrm>
            <a:off x="11199909" y="7375277"/>
            <a:ext cx="3430491" cy="84729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1026" name="Picture 2" descr="21,400+ Medical Symbol Stock Photos ...">
            <a:extLst>
              <a:ext uri="{FF2B5EF4-FFF2-40B4-BE49-F238E27FC236}">
                <a16:creationId xmlns:a16="http://schemas.microsoft.com/office/drawing/2014/main" id="{92C8C3D0-C767-70BE-72F5-8FAA8977D53E}"/>
              </a:ext>
            </a:extLst>
          </p:cNvPr>
          <p:cNvPicPr>
            <a:picLocks noChangeAspect="1" noChangeArrowheads="1"/>
          </p:cNvPicPr>
          <p:nvPr/>
        </p:nvPicPr>
        <p:blipFill>
          <a:blip r:embed="rId3">
            <a:alphaModFix amt="27000"/>
            <a:extLst>
              <a:ext uri="{28A0092B-C50C-407E-A947-70E740481C1C}">
                <a14:useLocalDpi xmlns:a14="http://schemas.microsoft.com/office/drawing/2010/main" val="0"/>
              </a:ext>
            </a:extLst>
          </a:blip>
          <a:srcRect/>
          <a:stretch>
            <a:fillRect/>
          </a:stretch>
        </p:blipFill>
        <p:spPr bwMode="auto">
          <a:xfrm>
            <a:off x="3916144" y="1927495"/>
            <a:ext cx="7000028" cy="6179942"/>
          </a:xfrm>
          <a:prstGeom prst="rect">
            <a:avLst/>
          </a:prstGeom>
          <a:noFill/>
          <a:extLst>
            <a:ext uri="{909E8E84-426E-40DD-AFC4-6F175D3DCCD1}">
              <a14:hiddenFill xmlns:a14="http://schemas.microsoft.com/office/drawing/2010/main">
                <a:solidFill>
                  <a:srgbClr val="FFFFFF"/>
                </a:solidFill>
              </a14:hiddenFill>
            </a:ext>
          </a:extLst>
        </p:spPr>
      </p:pic>
      <p:sp>
        <p:nvSpPr>
          <p:cNvPr id="2" name="Text 0"/>
          <p:cNvSpPr/>
          <p:nvPr/>
        </p:nvSpPr>
        <p:spPr>
          <a:xfrm>
            <a:off x="793790" y="1946031"/>
            <a:ext cx="7467957" cy="566976"/>
          </a:xfrm>
          <a:prstGeom prst="rect">
            <a:avLst/>
          </a:prstGeom>
          <a:noFill/>
          <a:ln/>
        </p:spPr>
        <p:txBody>
          <a:bodyPr wrap="none" lIns="0" tIns="0" rIns="0" bIns="0" rtlCol="0" anchor="t"/>
          <a:lstStyle/>
          <a:p>
            <a:pPr marL="0" indent="0" algn="l">
              <a:lnSpc>
                <a:spcPts val="4450"/>
              </a:lnSpc>
              <a:buNone/>
            </a:pPr>
            <a:r>
              <a:rPr lang="en-US" sz="3550" b="1" dirty="0">
                <a:solidFill>
                  <a:srgbClr val="000000"/>
                </a:solidFill>
                <a:latin typeface="Inter Bold" pitchFamily="34" charset="0"/>
                <a:ea typeface="Inter Bold" pitchFamily="34" charset="-122"/>
                <a:cs typeface="Inter Bold" pitchFamily="34" charset="-120"/>
              </a:rPr>
              <a:t>Introduction	</a:t>
            </a:r>
            <a:endParaRPr lang="en-US" sz="3550" dirty="0"/>
          </a:p>
        </p:txBody>
      </p:sp>
      <p:sp>
        <p:nvSpPr>
          <p:cNvPr id="3" name="Text 1"/>
          <p:cNvSpPr/>
          <p:nvPr/>
        </p:nvSpPr>
        <p:spPr>
          <a:xfrm>
            <a:off x="793790" y="2032934"/>
            <a:ext cx="2835235" cy="354330"/>
          </a:xfrm>
          <a:prstGeom prst="rect">
            <a:avLst/>
          </a:prstGeom>
          <a:noFill/>
          <a:ln/>
        </p:spPr>
        <p:txBody>
          <a:bodyPr wrap="none" lIns="0" tIns="0" rIns="0" bIns="0" rtlCol="0" anchor="t"/>
          <a:lstStyle/>
          <a:p>
            <a:pPr marL="0" indent="0" algn="l">
              <a:lnSpc>
                <a:spcPts val="2750"/>
              </a:lnSpc>
              <a:buNone/>
            </a:pPr>
            <a:endParaRPr lang="en-US" sz="2200" dirty="0"/>
          </a:p>
        </p:txBody>
      </p:sp>
      <p:sp>
        <p:nvSpPr>
          <p:cNvPr id="4" name="Text 2"/>
          <p:cNvSpPr/>
          <p:nvPr/>
        </p:nvSpPr>
        <p:spPr>
          <a:xfrm>
            <a:off x="786170" y="2735461"/>
            <a:ext cx="12572991" cy="4712256"/>
          </a:xfrm>
          <a:prstGeom prst="rect">
            <a:avLst/>
          </a:prstGeom>
          <a:noFill/>
          <a:ln/>
        </p:spPr>
        <p:txBody>
          <a:bodyPr wrap="square" lIns="0" tIns="0" rIns="0" bIns="0" rtlCol="0" anchor="t"/>
          <a:lstStyle/>
          <a:p>
            <a:pPr marL="285750" indent="-285750">
              <a:buFont typeface="Wingdings" panose="05000000000000000000" pitchFamily="2" charset="2"/>
              <a:buChar char="Ø"/>
            </a:pPr>
            <a:r>
              <a:rPr lang="en-US" sz="2000" dirty="0">
                <a:latin typeface="Inter" panose="020B0604020202020204" charset="0"/>
                <a:ea typeface="Inter" panose="020B0604020202020204" charset="0"/>
              </a:rPr>
              <a:t>Medical image reconstruction is an essential step in clinical diagnosis, where high-quality images are needed to support accurate interpretation by doctors and radiologists. </a:t>
            </a:r>
          </a:p>
          <a:p>
            <a:pPr marL="285750" indent="-285750">
              <a:buFont typeface="Wingdings" panose="05000000000000000000" pitchFamily="2" charset="2"/>
              <a:buChar char="Ø"/>
            </a:pPr>
            <a:endParaRPr lang="en-US" sz="2000" dirty="0">
              <a:latin typeface="Inter" panose="020B0604020202020204" charset="0"/>
              <a:ea typeface="Inter" panose="020B0604020202020204" charset="0"/>
            </a:endParaRPr>
          </a:p>
          <a:p>
            <a:pPr marL="285750" indent="-285750">
              <a:buFont typeface="Wingdings" panose="05000000000000000000" pitchFamily="2" charset="2"/>
              <a:buChar char="Ø"/>
            </a:pPr>
            <a:r>
              <a:rPr lang="en-US" sz="2000" dirty="0">
                <a:latin typeface="Inter" panose="020B0604020202020204" charset="0"/>
                <a:ea typeface="Inter" panose="020B0604020202020204" charset="0"/>
              </a:rPr>
              <a:t>Traditional reconstruction techniques (such as compressed sensing and iterative reconstruction) are often slow, computationally expensive, and may produce images with noise or artifacts—especially when the input data is incomplete or corrupted.</a:t>
            </a:r>
          </a:p>
          <a:p>
            <a:pPr marL="285750" indent="-285750">
              <a:buFont typeface="Wingdings" panose="05000000000000000000" pitchFamily="2" charset="2"/>
              <a:buChar char="Ø"/>
            </a:pPr>
            <a:endParaRPr lang="en-US" sz="2000" dirty="0">
              <a:latin typeface="Inter" panose="020B0604020202020204" charset="0"/>
              <a:ea typeface="Inter" panose="020B0604020202020204" charset="0"/>
            </a:endParaRPr>
          </a:p>
          <a:p>
            <a:pPr marL="285750" indent="-285750">
              <a:buFont typeface="Wingdings" panose="05000000000000000000" pitchFamily="2" charset="2"/>
              <a:buChar char="Ø"/>
            </a:pPr>
            <a:r>
              <a:rPr lang="en-US" sz="2000" dirty="0">
                <a:latin typeface="Inter" panose="020B0604020202020204" charset="0"/>
                <a:ea typeface="Inter" panose="020B0604020202020204" charset="0"/>
              </a:rPr>
              <a:t>With the growth of deep learning in healthcare, </a:t>
            </a:r>
            <a:r>
              <a:rPr lang="en-US" sz="2000" b="1" dirty="0">
                <a:latin typeface="Inter" panose="020B0604020202020204" charset="0"/>
                <a:ea typeface="Inter" panose="020B0604020202020204" charset="0"/>
              </a:rPr>
              <a:t>Generative Adversarial Networks (GANs)</a:t>
            </a:r>
            <a:r>
              <a:rPr lang="en-US" sz="2000" dirty="0">
                <a:latin typeface="Inter" panose="020B0604020202020204" charset="0"/>
                <a:ea typeface="Inter" panose="020B0604020202020204" charset="0"/>
              </a:rPr>
              <a:t> have emerged as a powerful tool for producing high-quality reconstructed medical images. </a:t>
            </a:r>
          </a:p>
          <a:p>
            <a:pPr marL="285750" indent="-285750">
              <a:buFont typeface="Wingdings" panose="05000000000000000000" pitchFamily="2" charset="2"/>
              <a:buChar char="Ø"/>
            </a:pPr>
            <a:endParaRPr lang="en-US" sz="2000" dirty="0">
              <a:latin typeface="Inter" panose="020B0604020202020204" charset="0"/>
              <a:ea typeface="Inter" panose="020B0604020202020204" charset="0"/>
            </a:endParaRPr>
          </a:p>
          <a:p>
            <a:pPr marL="285750" indent="-285750">
              <a:buFont typeface="Wingdings" panose="05000000000000000000" pitchFamily="2" charset="2"/>
              <a:buChar char="Ø"/>
            </a:pPr>
            <a:r>
              <a:rPr lang="en-US" sz="2000" dirty="0">
                <a:latin typeface="Inter" panose="020B0604020202020204" charset="0"/>
                <a:ea typeface="Inter" panose="020B0604020202020204" charset="0"/>
              </a:rPr>
              <a:t>GANs learn how to generate realistic images by training two networks — a </a:t>
            </a:r>
            <a:r>
              <a:rPr lang="en-US" sz="2000" b="1" dirty="0">
                <a:latin typeface="Inter" panose="020B0604020202020204" charset="0"/>
                <a:ea typeface="Inter" panose="020B0604020202020204" charset="0"/>
              </a:rPr>
              <a:t>Generator</a:t>
            </a:r>
            <a:r>
              <a:rPr lang="en-US" sz="2000" dirty="0">
                <a:latin typeface="Inter" panose="020B0604020202020204" charset="0"/>
                <a:ea typeface="Inter" panose="020B0604020202020204" charset="0"/>
              </a:rPr>
              <a:t> that reconstructs or synthesizes images, and a </a:t>
            </a:r>
            <a:r>
              <a:rPr lang="en-US" sz="2000" b="1" dirty="0">
                <a:latin typeface="Inter" panose="020B0604020202020204" charset="0"/>
                <a:ea typeface="Inter" panose="020B0604020202020204" charset="0"/>
              </a:rPr>
              <a:t>Discriminator</a:t>
            </a:r>
            <a:r>
              <a:rPr lang="en-US" sz="2000" dirty="0">
                <a:latin typeface="Inter" panose="020B0604020202020204" charset="0"/>
                <a:ea typeface="Inter" panose="020B0604020202020204" charset="0"/>
              </a:rPr>
              <a:t> that evaluates how real or accurate they appear.</a:t>
            </a:r>
          </a:p>
        </p:txBody>
      </p:sp>
      <p:sp>
        <p:nvSpPr>
          <p:cNvPr id="5" name="Text 3"/>
          <p:cNvSpPr/>
          <p:nvPr/>
        </p:nvSpPr>
        <p:spPr>
          <a:xfrm>
            <a:off x="793790" y="5335191"/>
            <a:ext cx="6244709" cy="1088708"/>
          </a:xfrm>
          <a:prstGeom prst="rect">
            <a:avLst/>
          </a:prstGeom>
          <a:noFill/>
          <a:ln/>
        </p:spPr>
        <p:txBody>
          <a:bodyPr wrap="square" lIns="0" tIns="0" rIns="0" bIns="0" rtlCol="0" anchor="t"/>
          <a:lstStyle/>
          <a:p>
            <a:pPr marL="0" indent="0" algn="l">
              <a:lnSpc>
                <a:spcPts val="2850"/>
              </a:lnSpc>
              <a:buNone/>
            </a:pPr>
            <a:endParaRPr lang="en-US" sz="1750" dirty="0"/>
          </a:p>
        </p:txBody>
      </p:sp>
      <p:sp>
        <p:nvSpPr>
          <p:cNvPr id="6" name="Text 4"/>
          <p:cNvSpPr/>
          <p:nvPr/>
        </p:nvSpPr>
        <p:spPr>
          <a:xfrm>
            <a:off x="7599521" y="2735461"/>
            <a:ext cx="2835235" cy="354330"/>
          </a:xfrm>
          <a:prstGeom prst="rect">
            <a:avLst/>
          </a:prstGeom>
          <a:noFill/>
          <a:ln/>
        </p:spPr>
        <p:txBody>
          <a:bodyPr wrap="none" lIns="0" tIns="0" rIns="0" bIns="0" rtlCol="0" anchor="t"/>
          <a:lstStyle/>
          <a:p>
            <a:pPr marL="0" indent="0" algn="l">
              <a:lnSpc>
                <a:spcPts val="2750"/>
              </a:lnSpc>
              <a:buNone/>
            </a:pPr>
            <a:endParaRPr lang="en-US" sz="2200" dirty="0"/>
          </a:p>
        </p:txBody>
      </p:sp>
      <p:sp>
        <p:nvSpPr>
          <p:cNvPr id="7" name="Text 5"/>
          <p:cNvSpPr/>
          <p:nvPr/>
        </p:nvSpPr>
        <p:spPr>
          <a:xfrm>
            <a:off x="7599521" y="3316605"/>
            <a:ext cx="6244709" cy="1451610"/>
          </a:xfrm>
          <a:prstGeom prst="rect">
            <a:avLst/>
          </a:prstGeom>
          <a:noFill/>
          <a:ln/>
        </p:spPr>
        <p:txBody>
          <a:bodyPr wrap="square" lIns="0" tIns="0" rIns="0" bIns="0" rtlCol="0" anchor="t"/>
          <a:lstStyle/>
          <a:p>
            <a:pPr marL="0" indent="0" algn="l">
              <a:lnSpc>
                <a:spcPts val="2850"/>
              </a:lnSpc>
              <a:buNone/>
            </a:pPr>
            <a:endParaRPr lang="en-US" sz="1750" dirty="0"/>
          </a:p>
        </p:txBody>
      </p:sp>
      <p:sp>
        <p:nvSpPr>
          <p:cNvPr id="8" name="Text 6"/>
          <p:cNvSpPr/>
          <p:nvPr/>
        </p:nvSpPr>
        <p:spPr>
          <a:xfrm>
            <a:off x="7599521" y="4972288"/>
            <a:ext cx="6244709" cy="1088708"/>
          </a:xfrm>
          <a:prstGeom prst="rect">
            <a:avLst/>
          </a:prstGeom>
          <a:noFill/>
          <a:ln/>
        </p:spPr>
        <p:txBody>
          <a:bodyPr wrap="square" lIns="0" tIns="0" rIns="0" bIns="0" rtlCol="0" anchor="t"/>
          <a:lstStyle/>
          <a:p>
            <a:pPr marL="0" indent="0" algn="l">
              <a:lnSpc>
                <a:spcPts val="2850"/>
              </a:lnSpc>
              <a:buNone/>
            </a:pPr>
            <a:endParaRPr lang="en-US" sz="1750" dirty="0"/>
          </a:p>
        </p:txBody>
      </p:sp>
      <p:pic>
        <p:nvPicPr>
          <p:cNvPr id="10" name="Picture 9">
            <a:extLst>
              <a:ext uri="{FF2B5EF4-FFF2-40B4-BE49-F238E27FC236}">
                <a16:creationId xmlns:a16="http://schemas.microsoft.com/office/drawing/2014/main" id="{4498C1B1-C0A4-2876-4401-4F904B3B620F}"/>
              </a:ext>
            </a:extLst>
          </p:cNvPr>
          <p:cNvPicPr>
            <a:picLocks noChangeAspect="1"/>
          </p:cNvPicPr>
          <p:nvPr/>
        </p:nvPicPr>
        <p:blipFill>
          <a:blip r:embed="rId4"/>
          <a:stretch>
            <a:fillRect/>
          </a:stretch>
        </p:blipFill>
        <p:spPr>
          <a:xfrm>
            <a:off x="12478868" y="7704267"/>
            <a:ext cx="2072820" cy="403895"/>
          </a:xfrm>
          <a:prstGeom prst="rect">
            <a:avLst/>
          </a:prstGeom>
        </p:spPr>
      </p:pic>
      <p:pic>
        <p:nvPicPr>
          <p:cNvPr id="11" name="Picture 10">
            <a:extLst>
              <a:ext uri="{FF2B5EF4-FFF2-40B4-BE49-F238E27FC236}">
                <a16:creationId xmlns:a16="http://schemas.microsoft.com/office/drawing/2014/main" id="{6CE89F6E-C385-4932-3BB8-4F85553A9627}"/>
              </a:ext>
            </a:extLst>
          </p:cNvPr>
          <p:cNvPicPr>
            <a:picLocks noChangeAspect="1"/>
          </p:cNvPicPr>
          <p:nvPr/>
        </p:nvPicPr>
        <p:blipFill>
          <a:blip r:embed="rId5"/>
          <a:stretch>
            <a:fillRect/>
          </a:stretch>
        </p:blipFill>
        <p:spPr>
          <a:xfrm>
            <a:off x="2591755" y="189460"/>
            <a:ext cx="9701101" cy="141744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77332" y="622340"/>
            <a:ext cx="7103983" cy="564952"/>
          </a:xfrm>
          <a:prstGeom prst="rect">
            <a:avLst/>
          </a:prstGeom>
          <a:noFill/>
          <a:ln/>
        </p:spPr>
        <p:txBody>
          <a:bodyPr wrap="none" lIns="0" tIns="0" rIns="0" bIns="0" rtlCol="0" anchor="t"/>
          <a:lstStyle/>
          <a:p>
            <a:pPr marL="0" indent="0" algn="l">
              <a:lnSpc>
                <a:spcPts val="4400"/>
              </a:lnSpc>
              <a:buNone/>
            </a:pPr>
            <a:r>
              <a:rPr lang="en-US" sz="3550" b="1" dirty="0">
                <a:solidFill>
                  <a:srgbClr val="000000"/>
                </a:solidFill>
                <a:latin typeface="Inter Bold" pitchFamily="34" charset="0"/>
                <a:ea typeface="Inter Bold" pitchFamily="34" charset="-122"/>
                <a:cs typeface="Inter Bold" pitchFamily="34" charset="-120"/>
              </a:rPr>
              <a:t>Problem Statement &amp; Objectives</a:t>
            </a:r>
            <a:endParaRPr lang="en-US" sz="3550" dirty="0"/>
          </a:p>
        </p:txBody>
      </p:sp>
      <p:sp>
        <p:nvSpPr>
          <p:cNvPr id="4" name="Shape 1"/>
          <p:cNvSpPr/>
          <p:nvPr/>
        </p:nvSpPr>
        <p:spPr>
          <a:xfrm>
            <a:off x="6277332" y="1526262"/>
            <a:ext cx="3668078" cy="3769043"/>
          </a:xfrm>
          <a:prstGeom prst="roundRect">
            <a:avLst>
              <a:gd name="adj" fmla="val 2588"/>
            </a:avLst>
          </a:prstGeom>
          <a:solidFill>
            <a:srgbClr val="FFFFFF"/>
          </a:solidFill>
          <a:ln w="30480">
            <a:solidFill>
              <a:srgbClr val="C0C1D7"/>
            </a:solidFill>
            <a:prstDash val="solid"/>
          </a:ln>
        </p:spPr>
      </p:sp>
      <p:sp>
        <p:nvSpPr>
          <p:cNvPr id="5" name="Text 2"/>
          <p:cNvSpPr/>
          <p:nvPr/>
        </p:nvSpPr>
        <p:spPr>
          <a:xfrm>
            <a:off x="6533793" y="1782723"/>
            <a:ext cx="2824877" cy="353139"/>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Primary Goal</a:t>
            </a:r>
            <a:endParaRPr lang="en-US" sz="2200" dirty="0"/>
          </a:p>
        </p:txBody>
      </p:sp>
      <p:sp>
        <p:nvSpPr>
          <p:cNvPr id="6" name="Text 3"/>
          <p:cNvSpPr/>
          <p:nvPr/>
        </p:nvSpPr>
        <p:spPr>
          <a:xfrm>
            <a:off x="6533793" y="2271355"/>
            <a:ext cx="3155156" cy="1807369"/>
          </a:xfrm>
          <a:prstGeom prst="rect">
            <a:avLst/>
          </a:prstGeom>
          <a:noFill/>
          <a:ln/>
        </p:spPr>
        <p:txBody>
          <a:bodyPr wrap="square" lIns="0" tIns="0" rIns="0" bIns="0" rtlCol="0" anchor="t"/>
          <a:lstStyle/>
          <a:p>
            <a:pPr marL="0" indent="0" algn="l">
              <a:lnSpc>
                <a:spcPts val="2800"/>
              </a:lnSpc>
              <a:buNone/>
            </a:pPr>
            <a:r>
              <a:rPr lang="en-US" sz="1750" dirty="0">
                <a:solidFill>
                  <a:srgbClr val="272525"/>
                </a:solidFill>
                <a:latin typeface="Inter" pitchFamily="34" charset="0"/>
                <a:ea typeface="Inter" pitchFamily="34" charset="-122"/>
                <a:cs typeface="Inter" pitchFamily="34" charset="-120"/>
              </a:rPr>
              <a:t>Reconstruct high-quality, diagnostically viable MRI images from degraded or incomplete input data using adversarial learning</a:t>
            </a:r>
            <a:endParaRPr lang="en-US" sz="1750" dirty="0"/>
          </a:p>
        </p:txBody>
      </p:sp>
      <p:sp>
        <p:nvSpPr>
          <p:cNvPr id="7" name="Shape 4"/>
          <p:cNvSpPr/>
          <p:nvPr/>
        </p:nvSpPr>
        <p:spPr>
          <a:xfrm>
            <a:off x="10171390" y="1526262"/>
            <a:ext cx="3668078" cy="3769043"/>
          </a:xfrm>
          <a:prstGeom prst="roundRect">
            <a:avLst>
              <a:gd name="adj" fmla="val 2588"/>
            </a:avLst>
          </a:prstGeom>
          <a:solidFill>
            <a:srgbClr val="FFFFFF"/>
          </a:solidFill>
          <a:ln w="30480">
            <a:solidFill>
              <a:srgbClr val="C0C1D7"/>
            </a:solidFill>
            <a:prstDash val="solid"/>
          </a:ln>
        </p:spPr>
        <p:txBody>
          <a:bodyPr/>
          <a:lstStyle/>
          <a:p>
            <a:endParaRPr lang="en-IN" dirty="0"/>
          </a:p>
        </p:txBody>
      </p:sp>
      <p:sp>
        <p:nvSpPr>
          <p:cNvPr id="8" name="Text 5"/>
          <p:cNvSpPr/>
          <p:nvPr/>
        </p:nvSpPr>
        <p:spPr>
          <a:xfrm>
            <a:off x="10427851" y="1782723"/>
            <a:ext cx="2824877" cy="353139"/>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Key Requirements</a:t>
            </a:r>
            <a:endParaRPr lang="en-US" sz="2200" dirty="0"/>
          </a:p>
        </p:txBody>
      </p:sp>
      <p:sp>
        <p:nvSpPr>
          <p:cNvPr id="9" name="Text 6"/>
          <p:cNvSpPr/>
          <p:nvPr/>
        </p:nvSpPr>
        <p:spPr>
          <a:xfrm>
            <a:off x="10427851" y="2271355"/>
            <a:ext cx="3155156" cy="722948"/>
          </a:xfrm>
          <a:prstGeom prst="rect">
            <a:avLst/>
          </a:prstGeom>
          <a:noFill/>
          <a:ln/>
        </p:spPr>
        <p:txBody>
          <a:bodyPr wrap="square" lIns="0" tIns="0" rIns="0" bIns="0" rtlCol="0" anchor="t"/>
          <a:lstStyle/>
          <a:p>
            <a:pPr marL="342900" indent="-342900" algn="l">
              <a:lnSpc>
                <a:spcPts val="2800"/>
              </a:lnSpc>
              <a:buSzPct val="100000"/>
              <a:buChar char="•"/>
            </a:pPr>
            <a:r>
              <a:rPr lang="en-US" sz="1750" dirty="0">
                <a:solidFill>
                  <a:srgbClr val="272525"/>
                </a:solidFill>
                <a:latin typeface="Inter" pitchFamily="34" charset="0"/>
                <a:ea typeface="Inter" pitchFamily="34" charset="-122"/>
                <a:cs typeface="Inter" pitchFamily="34" charset="-120"/>
              </a:rPr>
              <a:t>Preserve fine anatomical details</a:t>
            </a:r>
            <a:endParaRPr lang="en-US" sz="1750" dirty="0"/>
          </a:p>
        </p:txBody>
      </p:sp>
      <p:sp>
        <p:nvSpPr>
          <p:cNvPr id="10" name="Text 7"/>
          <p:cNvSpPr/>
          <p:nvPr/>
        </p:nvSpPr>
        <p:spPr>
          <a:xfrm>
            <a:off x="10427851" y="3073360"/>
            <a:ext cx="3155156" cy="722948"/>
          </a:xfrm>
          <a:prstGeom prst="rect">
            <a:avLst/>
          </a:prstGeom>
          <a:noFill/>
          <a:ln/>
        </p:spPr>
        <p:txBody>
          <a:bodyPr wrap="square" lIns="0" tIns="0" rIns="0" bIns="0" rtlCol="0" anchor="t"/>
          <a:lstStyle/>
          <a:p>
            <a:pPr marL="342900" indent="-342900" algn="l">
              <a:lnSpc>
                <a:spcPts val="2800"/>
              </a:lnSpc>
              <a:buSzPct val="100000"/>
              <a:buChar char="•"/>
            </a:pPr>
            <a:r>
              <a:rPr lang="en-US" sz="1750" dirty="0">
                <a:solidFill>
                  <a:srgbClr val="272525"/>
                </a:solidFill>
                <a:latin typeface="Inter" pitchFamily="34" charset="0"/>
                <a:ea typeface="Inter" pitchFamily="34" charset="-122"/>
                <a:cs typeface="Inter" pitchFamily="34" charset="-120"/>
              </a:rPr>
              <a:t>Maintain image sharpness</a:t>
            </a:r>
            <a:endParaRPr lang="en-US" sz="1750" dirty="0"/>
          </a:p>
        </p:txBody>
      </p:sp>
      <p:sp>
        <p:nvSpPr>
          <p:cNvPr id="11" name="Text 8"/>
          <p:cNvSpPr/>
          <p:nvPr/>
        </p:nvSpPr>
        <p:spPr>
          <a:xfrm>
            <a:off x="10427851" y="3875365"/>
            <a:ext cx="3155156" cy="361474"/>
          </a:xfrm>
          <a:prstGeom prst="rect">
            <a:avLst/>
          </a:prstGeom>
          <a:noFill/>
          <a:ln/>
        </p:spPr>
        <p:txBody>
          <a:bodyPr wrap="none" lIns="0" tIns="0" rIns="0" bIns="0" rtlCol="0" anchor="t"/>
          <a:lstStyle/>
          <a:p>
            <a:pPr marL="342900" indent="-342900" algn="l">
              <a:lnSpc>
                <a:spcPts val="2800"/>
              </a:lnSpc>
              <a:buSzPct val="100000"/>
              <a:buChar char="•"/>
            </a:pPr>
            <a:r>
              <a:rPr lang="en-US" sz="1750" dirty="0">
                <a:solidFill>
                  <a:srgbClr val="272525"/>
                </a:solidFill>
                <a:latin typeface="Inter" pitchFamily="34" charset="0"/>
                <a:ea typeface="Inter" pitchFamily="34" charset="-122"/>
                <a:cs typeface="Inter" pitchFamily="34" charset="-120"/>
              </a:rPr>
              <a:t>Ensure clinical realism</a:t>
            </a:r>
            <a:endParaRPr lang="en-US" sz="1750" dirty="0"/>
          </a:p>
        </p:txBody>
      </p:sp>
      <p:sp>
        <p:nvSpPr>
          <p:cNvPr id="12" name="Text 9"/>
          <p:cNvSpPr/>
          <p:nvPr/>
        </p:nvSpPr>
        <p:spPr>
          <a:xfrm>
            <a:off x="10427851" y="4315897"/>
            <a:ext cx="3155156" cy="722948"/>
          </a:xfrm>
          <a:prstGeom prst="rect">
            <a:avLst/>
          </a:prstGeom>
          <a:noFill/>
          <a:ln/>
        </p:spPr>
        <p:txBody>
          <a:bodyPr wrap="square" lIns="0" tIns="0" rIns="0" bIns="0" rtlCol="0" anchor="t"/>
          <a:lstStyle/>
          <a:p>
            <a:pPr marL="342900" indent="-342900" algn="l">
              <a:lnSpc>
                <a:spcPts val="2800"/>
              </a:lnSpc>
              <a:buSzPct val="100000"/>
              <a:buChar char="•"/>
            </a:pPr>
            <a:r>
              <a:rPr lang="en-US" sz="1750" dirty="0">
                <a:solidFill>
                  <a:srgbClr val="272525"/>
                </a:solidFill>
                <a:latin typeface="Inter" pitchFamily="34" charset="0"/>
                <a:ea typeface="Inter" pitchFamily="34" charset="-122"/>
                <a:cs typeface="Inter" pitchFamily="34" charset="-120"/>
              </a:rPr>
              <a:t>Enable diagnostic interpretation</a:t>
            </a:r>
            <a:endParaRPr lang="en-US" sz="1750" dirty="0"/>
          </a:p>
        </p:txBody>
      </p:sp>
      <p:sp>
        <p:nvSpPr>
          <p:cNvPr id="13" name="Shape 10"/>
          <p:cNvSpPr/>
          <p:nvPr/>
        </p:nvSpPr>
        <p:spPr>
          <a:xfrm>
            <a:off x="6277332" y="5521285"/>
            <a:ext cx="7562136" cy="2085975"/>
          </a:xfrm>
          <a:prstGeom prst="roundRect">
            <a:avLst>
              <a:gd name="adj" fmla="val 4550"/>
            </a:avLst>
          </a:prstGeom>
          <a:solidFill>
            <a:srgbClr val="FFFFFF"/>
          </a:solidFill>
          <a:ln w="30480">
            <a:solidFill>
              <a:srgbClr val="C0C1D7"/>
            </a:solidFill>
            <a:prstDash val="solid"/>
          </a:ln>
        </p:spPr>
      </p:sp>
      <p:sp>
        <p:nvSpPr>
          <p:cNvPr id="14" name="Text 11"/>
          <p:cNvSpPr/>
          <p:nvPr/>
        </p:nvSpPr>
        <p:spPr>
          <a:xfrm>
            <a:off x="6533793" y="5777746"/>
            <a:ext cx="2824877" cy="353139"/>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Technical Challenge</a:t>
            </a:r>
            <a:endParaRPr lang="en-US" sz="2200" dirty="0"/>
          </a:p>
        </p:txBody>
      </p:sp>
      <p:sp>
        <p:nvSpPr>
          <p:cNvPr id="15" name="Text 12"/>
          <p:cNvSpPr/>
          <p:nvPr/>
        </p:nvSpPr>
        <p:spPr>
          <a:xfrm>
            <a:off x="6533793" y="6266378"/>
            <a:ext cx="7049214" cy="1084421"/>
          </a:xfrm>
          <a:prstGeom prst="rect">
            <a:avLst/>
          </a:prstGeom>
          <a:noFill/>
          <a:ln/>
        </p:spPr>
        <p:txBody>
          <a:bodyPr wrap="square" lIns="0" tIns="0" rIns="0" bIns="0" rtlCol="0" anchor="t"/>
          <a:lstStyle/>
          <a:p>
            <a:pPr marL="0" indent="0" algn="l">
              <a:lnSpc>
                <a:spcPts val="2800"/>
              </a:lnSpc>
              <a:buNone/>
            </a:pPr>
            <a:r>
              <a:rPr lang="en-US" sz="1750" dirty="0">
                <a:solidFill>
                  <a:srgbClr val="272525"/>
                </a:solidFill>
                <a:latin typeface="Inter" pitchFamily="34" charset="0"/>
                <a:ea typeface="Inter" pitchFamily="34" charset="-122"/>
                <a:cs typeface="Inter" pitchFamily="34" charset="-120"/>
              </a:rPr>
              <a:t>Train GANs to accurately learn and reproduce complex brain structures while balancing reconstruction fidelity with computational efficiency</a:t>
            </a:r>
            <a:endParaRPr lang="en-US" sz="1750" dirty="0"/>
          </a:p>
        </p:txBody>
      </p:sp>
      <p:pic>
        <p:nvPicPr>
          <p:cNvPr id="17" name="Picture 16">
            <a:extLst>
              <a:ext uri="{FF2B5EF4-FFF2-40B4-BE49-F238E27FC236}">
                <a16:creationId xmlns:a16="http://schemas.microsoft.com/office/drawing/2014/main" id="{3FACFBB9-5B1B-CCFC-694B-F17397441083}"/>
              </a:ext>
            </a:extLst>
          </p:cNvPr>
          <p:cNvPicPr>
            <a:picLocks noChangeAspect="1"/>
          </p:cNvPicPr>
          <p:nvPr/>
        </p:nvPicPr>
        <p:blipFill>
          <a:blip r:embed="rId4"/>
          <a:stretch>
            <a:fillRect/>
          </a:stretch>
        </p:blipFill>
        <p:spPr>
          <a:xfrm>
            <a:off x="12546597" y="7742753"/>
            <a:ext cx="2072820" cy="40389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73418" y="529114"/>
            <a:ext cx="9256752" cy="481013"/>
          </a:xfrm>
          <a:prstGeom prst="rect">
            <a:avLst/>
          </a:prstGeom>
          <a:noFill/>
          <a:ln/>
        </p:spPr>
        <p:txBody>
          <a:bodyPr wrap="none" lIns="0" tIns="0" rIns="0" bIns="0" rtlCol="0" anchor="t"/>
          <a:lstStyle/>
          <a:p>
            <a:pPr marL="0" indent="0" algn="l">
              <a:lnSpc>
                <a:spcPts val="3750"/>
              </a:lnSpc>
              <a:buNone/>
            </a:pPr>
            <a:r>
              <a:rPr lang="en-US" sz="3000" b="1" dirty="0">
                <a:solidFill>
                  <a:srgbClr val="000000"/>
                </a:solidFill>
                <a:latin typeface="Inter Bold" pitchFamily="34" charset="0"/>
                <a:ea typeface="Inter Bold" pitchFamily="34" charset="-122"/>
                <a:cs typeface="Inter Bold" pitchFamily="34" charset="-120"/>
              </a:rPr>
              <a:t>Generative Adversarial Networks: Core Concepts</a:t>
            </a:r>
            <a:endParaRPr lang="en-US" sz="3000" dirty="0"/>
          </a:p>
        </p:txBody>
      </p:sp>
      <p:sp>
        <p:nvSpPr>
          <p:cNvPr id="3" name="Text 1"/>
          <p:cNvSpPr/>
          <p:nvPr/>
        </p:nvSpPr>
        <p:spPr>
          <a:xfrm>
            <a:off x="673418" y="1491139"/>
            <a:ext cx="3746302" cy="360759"/>
          </a:xfrm>
          <a:prstGeom prst="rect">
            <a:avLst/>
          </a:prstGeom>
          <a:noFill/>
          <a:ln/>
        </p:spPr>
        <p:txBody>
          <a:bodyPr wrap="none" lIns="0" tIns="0" rIns="0" bIns="0" rtlCol="0" anchor="t"/>
          <a:lstStyle/>
          <a:p>
            <a:pPr marL="0" indent="0" algn="l">
              <a:lnSpc>
                <a:spcPts val="2800"/>
              </a:lnSpc>
              <a:buNone/>
            </a:pPr>
            <a:r>
              <a:rPr lang="en-US" sz="2250" b="1" dirty="0">
                <a:solidFill>
                  <a:srgbClr val="000000"/>
                </a:solidFill>
                <a:latin typeface="Inter Bold" pitchFamily="34" charset="0"/>
                <a:ea typeface="Inter Bold" pitchFamily="34" charset="-122"/>
                <a:cs typeface="Inter Bold" pitchFamily="34" charset="-120"/>
              </a:rPr>
              <a:t>Dual Network Architecture</a:t>
            </a:r>
            <a:endParaRPr lang="en-US" sz="2250" dirty="0"/>
          </a:p>
        </p:txBody>
      </p:sp>
      <p:sp>
        <p:nvSpPr>
          <p:cNvPr id="4" name="Shape 2"/>
          <p:cNvSpPr/>
          <p:nvPr/>
        </p:nvSpPr>
        <p:spPr>
          <a:xfrm>
            <a:off x="673418" y="2068354"/>
            <a:ext cx="6407110" cy="2278261"/>
          </a:xfrm>
          <a:prstGeom prst="roundRect">
            <a:avLst>
              <a:gd name="adj" fmla="val 3547"/>
            </a:avLst>
          </a:prstGeom>
          <a:solidFill>
            <a:srgbClr val="DADBF1"/>
          </a:solidFill>
          <a:ln w="7620">
            <a:solidFill>
              <a:srgbClr val="C0C1D7"/>
            </a:solidFill>
            <a:prstDash val="solid"/>
          </a:ln>
        </p:spPr>
      </p:sp>
      <p:sp>
        <p:nvSpPr>
          <p:cNvPr id="5" name="Shape 3"/>
          <p:cNvSpPr/>
          <p:nvPr/>
        </p:nvSpPr>
        <p:spPr>
          <a:xfrm>
            <a:off x="873443" y="2268379"/>
            <a:ext cx="577215" cy="577215"/>
          </a:xfrm>
          <a:prstGeom prst="roundRect">
            <a:avLst>
              <a:gd name="adj" fmla="val 15840000"/>
            </a:avLst>
          </a:prstGeom>
          <a:solidFill>
            <a:srgbClr val="4950BC"/>
          </a:solidFill>
          <a:ln/>
        </p:spPr>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32153" y="2427089"/>
            <a:ext cx="259675" cy="259675"/>
          </a:xfrm>
          <a:prstGeom prst="rect">
            <a:avLst/>
          </a:prstGeom>
        </p:spPr>
      </p:pic>
      <p:sp>
        <p:nvSpPr>
          <p:cNvPr id="7" name="Text 4"/>
          <p:cNvSpPr/>
          <p:nvPr/>
        </p:nvSpPr>
        <p:spPr>
          <a:xfrm>
            <a:off x="873443" y="3037999"/>
            <a:ext cx="2405062" cy="300633"/>
          </a:xfrm>
          <a:prstGeom prst="rect">
            <a:avLst/>
          </a:prstGeom>
          <a:noFill/>
          <a:ln/>
        </p:spPr>
        <p:txBody>
          <a:bodyPr wrap="none" lIns="0" tIns="0" rIns="0" bIns="0" rtlCol="0" anchor="t"/>
          <a:lstStyle/>
          <a:p>
            <a:pPr marL="0" indent="0" algn="l">
              <a:lnSpc>
                <a:spcPts val="2350"/>
              </a:lnSpc>
              <a:buNone/>
            </a:pPr>
            <a:r>
              <a:rPr lang="en-US" sz="1850" b="1" dirty="0">
                <a:solidFill>
                  <a:srgbClr val="272525"/>
                </a:solidFill>
                <a:latin typeface="Inter Bold" pitchFamily="34" charset="0"/>
                <a:ea typeface="Inter Bold" pitchFamily="34" charset="-122"/>
                <a:cs typeface="Inter Bold" pitchFamily="34" charset="-120"/>
              </a:rPr>
              <a:t>Generator</a:t>
            </a:r>
            <a:endParaRPr lang="en-US" sz="1850" dirty="0"/>
          </a:p>
        </p:txBody>
      </p:sp>
      <p:sp>
        <p:nvSpPr>
          <p:cNvPr id="8" name="Text 5"/>
          <p:cNvSpPr/>
          <p:nvPr/>
        </p:nvSpPr>
        <p:spPr>
          <a:xfrm>
            <a:off x="873443" y="3531037"/>
            <a:ext cx="6007060" cy="615553"/>
          </a:xfrm>
          <a:prstGeom prst="rect">
            <a:avLst/>
          </a:prstGeom>
          <a:noFill/>
          <a:ln/>
        </p:spPr>
        <p:txBody>
          <a:bodyPr wrap="square" lIns="0" tIns="0" rIns="0" bIns="0" rtlCol="0" anchor="t"/>
          <a:lstStyle/>
          <a:p>
            <a:pPr marL="0" indent="0" algn="l">
              <a:lnSpc>
                <a:spcPts val="2400"/>
              </a:lnSpc>
              <a:buNone/>
            </a:pPr>
            <a:r>
              <a:rPr lang="en-US" sz="1500" dirty="0">
                <a:solidFill>
                  <a:srgbClr val="272525"/>
                </a:solidFill>
                <a:latin typeface="Inter" pitchFamily="34" charset="0"/>
                <a:ea typeface="Inter" pitchFamily="34" charset="-122"/>
                <a:cs typeface="Inter" pitchFamily="34" charset="-120"/>
              </a:rPr>
              <a:t>Creates synthetic MRI images from noise or degraded inputs, learning to produce increasingly realistic reconstructions</a:t>
            </a:r>
            <a:endParaRPr lang="en-US" sz="1500" dirty="0"/>
          </a:p>
        </p:txBody>
      </p:sp>
      <p:sp>
        <p:nvSpPr>
          <p:cNvPr id="9" name="Shape 6"/>
          <p:cNvSpPr/>
          <p:nvPr/>
        </p:nvSpPr>
        <p:spPr>
          <a:xfrm>
            <a:off x="673418" y="4539020"/>
            <a:ext cx="6407110" cy="2278261"/>
          </a:xfrm>
          <a:prstGeom prst="roundRect">
            <a:avLst>
              <a:gd name="adj" fmla="val 3547"/>
            </a:avLst>
          </a:prstGeom>
          <a:solidFill>
            <a:srgbClr val="DADBF1"/>
          </a:solidFill>
          <a:ln w="7620">
            <a:solidFill>
              <a:srgbClr val="C0C1D7"/>
            </a:solidFill>
            <a:prstDash val="solid"/>
          </a:ln>
        </p:spPr>
      </p:sp>
      <p:sp>
        <p:nvSpPr>
          <p:cNvPr id="10" name="Shape 7"/>
          <p:cNvSpPr/>
          <p:nvPr/>
        </p:nvSpPr>
        <p:spPr>
          <a:xfrm>
            <a:off x="873443" y="4739045"/>
            <a:ext cx="577215" cy="577215"/>
          </a:xfrm>
          <a:prstGeom prst="roundRect">
            <a:avLst>
              <a:gd name="adj" fmla="val 15840000"/>
            </a:avLst>
          </a:prstGeom>
          <a:solidFill>
            <a:srgbClr val="4950BC"/>
          </a:solidFill>
          <a:ln/>
        </p:spPr>
      </p:sp>
      <p:pic>
        <p:nvPicPr>
          <p:cNvPr id="11"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32153" y="4897755"/>
            <a:ext cx="259675" cy="259675"/>
          </a:xfrm>
          <a:prstGeom prst="rect">
            <a:avLst/>
          </a:prstGeom>
        </p:spPr>
      </p:pic>
      <p:sp>
        <p:nvSpPr>
          <p:cNvPr id="12" name="Text 8"/>
          <p:cNvSpPr/>
          <p:nvPr/>
        </p:nvSpPr>
        <p:spPr>
          <a:xfrm>
            <a:off x="873443" y="5508665"/>
            <a:ext cx="2405062" cy="300633"/>
          </a:xfrm>
          <a:prstGeom prst="rect">
            <a:avLst/>
          </a:prstGeom>
          <a:noFill/>
          <a:ln/>
        </p:spPr>
        <p:txBody>
          <a:bodyPr wrap="none" lIns="0" tIns="0" rIns="0" bIns="0" rtlCol="0" anchor="t"/>
          <a:lstStyle/>
          <a:p>
            <a:pPr marL="0" indent="0" algn="l">
              <a:lnSpc>
                <a:spcPts val="2350"/>
              </a:lnSpc>
              <a:buNone/>
            </a:pPr>
            <a:r>
              <a:rPr lang="en-US" sz="1850" b="1" dirty="0">
                <a:solidFill>
                  <a:srgbClr val="272525"/>
                </a:solidFill>
                <a:latin typeface="Inter Bold" pitchFamily="34" charset="0"/>
                <a:ea typeface="Inter Bold" pitchFamily="34" charset="-122"/>
                <a:cs typeface="Inter Bold" pitchFamily="34" charset="-120"/>
              </a:rPr>
              <a:t>Discriminator</a:t>
            </a:r>
            <a:endParaRPr lang="en-US" sz="1850" dirty="0"/>
          </a:p>
        </p:txBody>
      </p:sp>
      <p:sp>
        <p:nvSpPr>
          <p:cNvPr id="13" name="Text 9"/>
          <p:cNvSpPr/>
          <p:nvPr/>
        </p:nvSpPr>
        <p:spPr>
          <a:xfrm>
            <a:off x="873443" y="6001703"/>
            <a:ext cx="6007060" cy="615553"/>
          </a:xfrm>
          <a:prstGeom prst="rect">
            <a:avLst/>
          </a:prstGeom>
          <a:noFill/>
          <a:ln/>
        </p:spPr>
        <p:txBody>
          <a:bodyPr wrap="square" lIns="0" tIns="0" rIns="0" bIns="0" rtlCol="0" anchor="t"/>
          <a:lstStyle/>
          <a:p>
            <a:pPr marL="0" indent="0" algn="l">
              <a:lnSpc>
                <a:spcPts val="2400"/>
              </a:lnSpc>
              <a:buNone/>
            </a:pPr>
            <a:r>
              <a:rPr lang="en-US" sz="1500" dirty="0">
                <a:solidFill>
                  <a:srgbClr val="272525"/>
                </a:solidFill>
                <a:latin typeface="Inter" pitchFamily="34" charset="0"/>
                <a:ea typeface="Inter" pitchFamily="34" charset="-122"/>
                <a:cs typeface="Inter" pitchFamily="34" charset="-120"/>
              </a:rPr>
              <a:t>Evaluates authenticity by distinguishing real MRI scans from generated images, providing critical feedback</a:t>
            </a:r>
            <a:endParaRPr lang="en-US" sz="1500" dirty="0"/>
          </a:p>
        </p:txBody>
      </p:sp>
      <p:sp>
        <p:nvSpPr>
          <p:cNvPr id="14" name="Text 10"/>
          <p:cNvSpPr/>
          <p:nvPr/>
        </p:nvSpPr>
        <p:spPr>
          <a:xfrm>
            <a:off x="7557492" y="1491139"/>
            <a:ext cx="2405062" cy="300633"/>
          </a:xfrm>
          <a:prstGeom prst="rect">
            <a:avLst/>
          </a:prstGeom>
          <a:noFill/>
          <a:ln/>
        </p:spPr>
        <p:txBody>
          <a:bodyPr wrap="none" lIns="0" tIns="0" rIns="0" bIns="0" rtlCol="0" anchor="t"/>
          <a:lstStyle/>
          <a:p>
            <a:pPr marL="0" indent="0" algn="l">
              <a:lnSpc>
                <a:spcPts val="2350"/>
              </a:lnSpc>
              <a:buNone/>
            </a:pPr>
            <a:r>
              <a:rPr lang="en-US" sz="1850" b="1" dirty="0">
                <a:solidFill>
                  <a:srgbClr val="000000"/>
                </a:solidFill>
                <a:latin typeface="Inter Bold" pitchFamily="34" charset="0"/>
                <a:ea typeface="Inter Bold" pitchFamily="34" charset="-122"/>
                <a:cs typeface="Inter Bold" pitchFamily="34" charset="-120"/>
              </a:rPr>
              <a:t>Adversarial Training</a:t>
            </a:r>
            <a:endParaRPr lang="en-US" sz="1850" dirty="0"/>
          </a:p>
        </p:txBody>
      </p:sp>
      <p:sp>
        <p:nvSpPr>
          <p:cNvPr id="15" name="Text 11"/>
          <p:cNvSpPr/>
          <p:nvPr/>
        </p:nvSpPr>
        <p:spPr>
          <a:xfrm>
            <a:off x="7557492" y="1984177"/>
            <a:ext cx="6407110" cy="923330"/>
          </a:xfrm>
          <a:prstGeom prst="rect">
            <a:avLst/>
          </a:prstGeom>
          <a:noFill/>
          <a:ln/>
        </p:spPr>
        <p:txBody>
          <a:bodyPr wrap="square" lIns="0" tIns="0" rIns="0" bIns="0" rtlCol="0" anchor="t"/>
          <a:lstStyle/>
          <a:p>
            <a:pPr marL="0" indent="0" algn="l">
              <a:lnSpc>
                <a:spcPts val="2400"/>
              </a:lnSpc>
              <a:buNone/>
            </a:pPr>
            <a:r>
              <a:rPr lang="en-US" sz="1500" dirty="0">
                <a:solidFill>
                  <a:srgbClr val="272525"/>
                </a:solidFill>
                <a:latin typeface="Inter" pitchFamily="34" charset="0"/>
                <a:ea typeface="Inter" pitchFamily="34" charset="-122"/>
                <a:cs typeface="Inter" pitchFamily="34" charset="-120"/>
              </a:rPr>
              <a:t>Both networks engage in competitive learning, with the generator improving its reconstruction quality while the discriminator enhances its detection capability.</a:t>
            </a:r>
            <a:endParaRPr lang="en-US" sz="1500" dirty="0"/>
          </a:p>
        </p:txBody>
      </p:sp>
      <p:sp>
        <p:nvSpPr>
          <p:cNvPr id="16" name="Text 12"/>
          <p:cNvSpPr/>
          <p:nvPr/>
        </p:nvSpPr>
        <p:spPr>
          <a:xfrm>
            <a:off x="7557492" y="3080623"/>
            <a:ext cx="6407110" cy="615553"/>
          </a:xfrm>
          <a:prstGeom prst="rect">
            <a:avLst/>
          </a:prstGeom>
          <a:noFill/>
          <a:ln/>
        </p:spPr>
        <p:txBody>
          <a:bodyPr wrap="square" lIns="0" tIns="0" rIns="0" bIns="0" rtlCol="0" anchor="t"/>
          <a:lstStyle/>
          <a:p>
            <a:pPr marL="0" indent="0" algn="l">
              <a:lnSpc>
                <a:spcPts val="2400"/>
              </a:lnSpc>
              <a:buNone/>
            </a:pPr>
            <a:r>
              <a:rPr lang="en-US" sz="1500" dirty="0">
                <a:solidFill>
                  <a:srgbClr val="272525"/>
                </a:solidFill>
                <a:latin typeface="Inter" pitchFamily="34" charset="0"/>
                <a:ea typeface="Inter" pitchFamily="34" charset="-122"/>
                <a:cs typeface="Inter" pitchFamily="34" charset="-120"/>
              </a:rPr>
              <a:t>This adversarial process drives continuous improvement until generated images become indistinguishable from real MRI scans.</a:t>
            </a:r>
            <a:endParaRPr lang="en-US" sz="1500" dirty="0"/>
          </a:p>
        </p:txBody>
      </p:sp>
      <p:pic>
        <p:nvPicPr>
          <p:cNvPr id="18" name="Image 2" descr="preencoded.png"/>
          <p:cNvPicPr>
            <a:picLocks noChangeAspect="1"/>
          </p:cNvPicPr>
          <p:nvPr/>
        </p:nvPicPr>
        <p:blipFill>
          <a:blip r:embed="rId7"/>
          <a:stretch>
            <a:fillRect/>
          </a:stretch>
        </p:blipFill>
        <p:spPr>
          <a:xfrm>
            <a:off x="3999637" y="4182814"/>
            <a:ext cx="13283565" cy="431125"/>
          </a:xfrm>
          <a:prstGeom prst="rect">
            <a:avLst/>
          </a:prstGeom>
        </p:spPr>
      </p:pic>
      <p:pic>
        <p:nvPicPr>
          <p:cNvPr id="19" name="Picture 18">
            <a:extLst>
              <a:ext uri="{FF2B5EF4-FFF2-40B4-BE49-F238E27FC236}">
                <a16:creationId xmlns:a16="http://schemas.microsoft.com/office/drawing/2014/main" id="{5EB3CC58-D742-5CC9-87CF-51AC7F83C075}"/>
              </a:ext>
            </a:extLst>
          </p:cNvPr>
          <p:cNvPicPr>
            <a:picLocks noChangeAspect="1"/>
          </p:cNvPicPr>
          <p:nvPr/>
        </p:nvPicPr>
        <p:blipFill>
          <a:blip r:embed="rId8"/>
          <a:stretch>
            <a:fillRect/>
          </a:stretch>
        </p:blipFill>
        <p:spPr>
          <a:xfrm>
            <a:off x="12546597" y="7742753"/>
            <a:ext cx="2072820" cy="403895"/>
          </a:xfrm>
          <a:prstGeom prst="rect">
            <a:avLst/>
          </a:prstGeom>
        </p:spPr>
      </p:pic>
      <p:sp>
        <p:nvSpPr>
          <p:cNvPr id="21" name="TextBox 20">
            <a:extLst>
              <a:ext uri="{FF2B5EF4-FFF2-40B4-BE49-F238E27FC236}">
                <a16:creationId xmlns:a16="http://schemas.microsoft.com/office/drawing/2014/main" id="{4581D138-6A09-1952-ADC9-A8DFE8B03BD6}"/>
              </a:ext>
            </a:extLst>
          </p:cNvPr>
          <p:cNvSpPr txBox="1"/>
          <p:nvPr/>
        </p:nvSpPr>
        <p:spPr>
          <a:xfrm>
            <a:off x="7557492" y="5100578"/>
            <a:ext cx="6399489" cy="1477328"/>
          </a:xfrm>
          <a:prstGeom prst="rect">
            <a:avLst/>
          </a:prstGeom>
          <a:noFill/>
        </p:spPr>
        <p:txBody>
          <a:bodyPr wrap="square" rtlCol="0">
            <a:spAutoFit/>
          </a:bodyPr>
          <a:lstStyle/>
          <a:p>
            <a:pPr algn="ctr"/>
            <a:r>
              <a:rPr lang="en-IN" sz="1500" dirty="0">
                <a:latin typeface="Inter" panose="020B0604020202020204" charset="0"/>
                <a:ea typeface="Inter" panose="020B0604020202020204" charset="0"/>
              </a:rPr>
              <a:t>This equation describes the game between the Discriminator ( D ) and the Generator ( G ).</a:t>
            </a:r>
          </a:p>
          <a:p>
            <a:pPr algn="ctr"/>
            <a:endParaRPr lang="en-IN" sz="1500" dirty="0">
              <a:latin typeface="Inter" panose="020B0604020202020204" charset="0"/>
              <a:ea typeface="Inter" panose="020B0604020202020204" charset="0"/>
            </a:endParaRPr>
          </a:p>
          <a:p>
            <a:r>
              <a:rPr lang="en-US" sz="1500" dirty="0">
                <a:latin typeface="Inter" panose="020B0604020202020204" charset="0"/>
                <a:ea typeface="Inter" panose="020B0604020202020204" charset="0"/>
              </a:rPr>
              <a:t>The discriminator tries to maximize this function and correctly classify real data x and fake data G(z), while the generator tries to minimize it, essentially creating data that can fool the discriminator</a:t>
            </a:r>
            <a:endParaRPr lang="en-IN" sz="1500" dirty="0">
              <a:latin typeface="Inter" panose="020B0604020202020204" charset="0"/>
              <a:ea typeface="Inter" panose="020B06040202020202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93408" y="467678"/>
            <a:ext cx="5645348" cy="423863"/>
          </a:xfrm>
          <a:prstGeom prst="rect">
            <a:avLst/>
          </a:prstGeom>
          <a:noFill/>
          <a:ln/>
        </p:spPr>
        <p:txBody>
          <a:bodyPr wrap="none" lIns="0" tIns="0" rIns="0" bIns="0" rtlCol="0" anchor="t"/>
          <a:lstStyle/>
          <a:p>
            <a:pPr marL="0" indent="0" algn="l">
              <a:lnSpc>
                <a:spcPts val="3300"/>
              </a:lnSpc>
              <a:buNone/>
            </a:pPr>
            <a:r>
              <a:rPr lang="en-US" sz="2650" b="1" dirty="0">
                <a:solidFill>
                  <a:srgbClr val="000000"/>
                </a:solidFill>
                <a:latin typeface="Inter Bold" pitchFamily="34" charset="0"/>
                <a:ea typeface="Inter Bold" pitchFamily="34" charset="-122"/>
                <a:cs typeface="Inter Bold" pitchFamily="34" charset="-120"/>
              </a:rPr>
              <a:t>Why DCGAN for Medical Imaging?</a:t>
            </a:r>
            <a:endParaRPr lang="en-US" sz="2650" dirty="0"/>
          </a:p>
        </p:txBody>
      </p:sp>
      <p:pic>
        <p:nvPicPr>
          <p:cNvPr id="3" name="Image 0" descr="preencoded.png"/>
          <p:cNvPicPr>
            <a:picLocks noChangeAspect="1"/>
          </p:cNvPicPr>
          <p:nvPr/>
        </p:nvPicPr>
        <p:blipFill>
          <a:blip r:embed="rId3"/>
          <a:stretch>
            <a:fillRect/>
          </a:stretch>
        </p:blipFill>
        <p:spPr>
          <a:xfrm>
            <a:off x="593408" y="1336596"/>
            <a:ext cx="5129213" cy="5129213"/>
          </a:xfrm>
          <a:prstGeom prst="rect">
            <a:avLst/>
          </a:prstGeom>
        </p:spPr>
      </p:pic>
      <p:sp>
        <p:nvSpPr>
          <p:cNvPr id="4" name="Text 1"/>
          <p:cNvSpPr/>
          <p:nvPr/>
        </p:nvSpPr>
        <p:spPr>
          <a:xfrm>
            <a:off x="6143863" y="1315403"/>
            <a:ext cx="2820829" cy="264914"/>
          </a:xfrm>
          <a:prstGeom prst="rect">
            <a:avLst/>
          </a:prstGeom>
          <a:noFill/>
          <a:ln/>
        </p:spPr>
        <p:txBody>
          <a:bodyPr wrap="none" lIns="0" tIns="0" rIns="0" bIns="0" rtlCol="0" anchor="t"/>
          <a:lstStyle/>
          <a:p>
            <a:pPr marL="0" indent="0" algn="l">
              <a:lnSpc>
                <a:spcPts val="2050"/>
              </a:lnSpc>
              <a:buNone/>
            </a:pPr>
            <a:r>
              <a:rPr lang="en-US" sz="1650" b="1" dirty="0">
                <a:solidFill>
                  <a:srgbClr val="000000"/>
                </a:solidFill>
                <a:latin typeface="Inter Bold" pitchFamily="34" charset="0"/>
                <a:ea typeface="Inter Bold" pitchFamily="34" charset="-122"/>
                <a:cs typeface="Inter Bold" pitchFamily="34" charset="-120"/>
              </a:rPr>
              <a:t>Traditional GAN Limitations</a:t>
            </a:r>
            <a:endParaRPr lang="en-US" sz="1650" dirty="0"/>
          </a:p>
        </p:txBody>
      </p:sp>
      <p:sp>
        <p:nvSpPr>
          <p:cNvPr id="5" name="Text 2"/>
          <p:cNvSpPr/>
          <p:nvPr/>
        </p:nvSpPr>
        <p:spPr>
          <a:xfrm>
            <a:off x="6143863" y="1749862"/>
            <a:ext cx="7900630" cy="542449"/>
          </a:xfrm>
          <a:prstGeom prst="rect">
            <a:avLst/>
          </a:prstGeom>
          <a:noFill/>
          <a:ln/>
        </p:spPr>
        <p:txBody>
          <a:bodyPr wrap="square" lIns="0" tIns="0" rIns="0" bIns="0" rtlCol="0" anchor="t"/>
          <a:lstStyle/>
          <a:p>
            <a:pPr marL="0" indent="0" algn="l">
              <a:lnSpc>
                <a:spcPts val="2100"/>
              </a:lnSpc>
              <a:buNone/>
            </a:pPr>
            <a:r>
              <a:rPr lang="en-US" sz="1300" dirty="0">
                <a:solidFill>
                  <a:srgbClr val="272525"/>
                </a:solidFill>
                <a:latin typeface="Inter" pitchFamily="34" charset="0"/>
                <a:ea typeface="Inter" pitchFamily="34" charset="-122"/>
                <a:cs typeface="Inter" pitchFamily="34" charset="-120"/>
              </a:rPr>
              <a:t>Conventional GANs rely on fully connected dense layers, resulting in poor spatial awareness and inability to preserve critical anatomical structures in medical images.</a:t>
            </a:r>
            <a:endParaRPr lang="en-US" sz="1300" dirty="0"/>
          </a:p>
        </p:txBody>
      </p:sp>
      <p:sp>
        <p:nvSpPr>
          <p:cNvPr id="6" name="Text 3"/>
          <p:cNvSpPr/>
          <p:nvPr/>
        </p:nvSpPr>
        <p:spPr>
          <a:xfrm>
            <a:off x="6143863" y="2461855"/>
            <a:ext cx="2119551" cy="264914"/>
          </a:xfrm>
          <a:prstGeom prst="rect">
            <a:avLst/>
          </a:prstGeom>
          <a:noFill/>
          <a:ln/>
        </p:spPr>
        <p:txBody>
          <a:bodyPr wrap="none" lIns="0" tIns="0" rIns="0" bIns="0" rtlCol="0" anchor="t"/>
          <a:lstStyle/>
          <a:p>
            <a:pPr marL="0" indent="0" algn="l">
              <a:lnSpc>
                <a:spcPts val="2050"/>
              </a:lnSpc>
              <a:buNone/>
            </a:pPr>
            <a:r>
              <a:rPr lang="en-US" sz="1650" b="1" dirty="0">
                <a:solidFill>
                  <a:srgbClr val="000000"/>
                </a:solidFill>
                <a:latin typeface="Inter Bold" pitchFamily="34" charset="0"/>
                <a:ea typeface="Inter Bold" pitchFamily="34" charset="-122"/>
                <a:cs typeface="Inter Bold" pitchFamily="34" charset="-120"/>
              </a:rPr>
              <a:t>DCGAN Advantages</a:t>
            </a:r>
            <a:endParaRPr lang="en-US" sz="1650" dirty="0"/>
          </a:p>
        </p:txBody>
      </p:sp>
      <p:sp>
        <p:nvSpPr>
          <p:cNvPr id="7" name="Shape 4"/>
          <p:cNvSpPr/>
          <p:nvPr/>
        </p:nvSpPr>
        <p:spPr>
          <a:xfrm>
            <a:off x="6143863" y="3007519"/>
            <a:ext cx="84773" cy="84773"/>
          </a:xfrm>
          <a:prstGeom prst="roundRect">
            <a:avLst>
              <a:gd name="adj" fmla="val 539323"/>
            </a:avLst>
          </a:prstGeom>
          <a:solidFill>
            <a:srgbClr val="4950BC"/>
          </a:solidFill>
          <a:ln/>
        </p:spPr>
      </p:sp>
      <p:sp>
        <p:nvSpPr>
          <p:cNvPr id="8" name="Text 5"/>
          <p:cNvSpPr/>
          <p:nvPr/>
        </p:nvSpPr>
        <p:spPr>
          <a:xfrm>
            <a:off x="6398181" y="2917507"/>
            <a:ext cx="2780586" cy="264914"/>
          </a:xfrm>
          <a:prstGeom prst="rect">
            <a:avLst/>
          </a:prstGeom>
          <a:noFill/>
          <a:ln/>
        </p:spPr>
        <p:txBody>
          <a:bodyPr wrap="none" lIns="0" tIns="0" rIns="0" bIns="0" rtlCol="0" anchor="t"/>
          <a:lstStyle/>
          <a:p>
            <a:pPr marL="0" indent="0" algn="l">
              <a:lnSpc>
                <a:spcPts val="2050"/>
              </a:lnSpc>
              <a:buNone/>
            </a:pPr>
            <a:r>
              <a:rPr lang="en-US" sz="1650" b="1" dirty="0">
                <a:solidFill>
                  <a:srgbClr val="272525"/>
                </a:solidFill>
                <a:latin typeface="Inter Bold" pitchFamily="34" charset="0"/>
                <a:ea typeface="Inter Bold" pitchFamily="34" charset="-122"/>
                <a:cs typeface="Inter Bold" pitchFamily="34" charset="-120"/>
              </a:rPr>
              <a:t>Convolutional Architecture</a:t>
            </a:r>
            <a:endParaRPr lang="en-US" sz="1650" dirty="0"/>
          </a:p>
        </p:txBody>
      </p:sp>
      <p:sp>
        <p:nvSpPr>
          <p:cNvPr id="9" name="Text 6"/>
          <p:cNvSpPr/>
          <p:nvPr/>
        </p:nvSpPr>
        <p:spPr>
          <a:xfrm>
            <a:off x="6398181" y="3351967"/>
            <a:ext cx="7646313" cy="271224"/>
          </a:xfrm>
          <a:prstGeom prst="rect">
            <a:avLst/>
          </a:prstGeom>
          <a:noFill/>
          <a:ln/>
        </p:spPr>
        <p:txBody>
          <a:bodyPr wrap="none" lIns="0" tIns="0" rIns="0" bIns="0" rtlCol="0" anchor="t"/>
          <a:lstStyle/>
          <a:p>
            <a:pPr marL="0" indent="0" algn="l">
              <a:lnSpc>
                <a:spcPts val="2100"/>
              </a:lnSpc>
              <a:buNone/>
            </a:pPr>
            <a:r>
              <a:rPr lang="en-US" sz="1300" dirty="0">
                <a:solidFill>
                  <a:srgbClr val="272525"/>
                </a:solidFill>
                <a:latin typeface="Inter" pitchFamily="34" charset="0"/>
                <a:ea typeface="Inter" pitchFamily="34" charset="-122"/>
                <a:cs typeface="Inter" pitchFamily="34" charset="-120"/>
              </a:rPr>
              <a:t>Discriminator uses convolutional layers for superior feature extraction from spatial data</a:t>
            </a:r>
            <a:endParaRPr lang="en-US" sz="1300" dirty="0"/>
          </a:p>
        </p:txBody>
      </p:sp>
      <p:sp>
        <p:nvSpPr>
          <p:cNvPr id="10" name="Shape 7"/>
          <p:cNvSpPr/>
          <p:nvPr/>
        </p:nvSpPr>
        <p:spPr>
          <a:xfrm>
            <a:off x="6143863" y="4052292"/>
            <a:ext cx="84773" cy="84773"/>
          </a:xfrm>
          <a:prstGeom prst="roundRect">
            <a:avLst>
              <a:gd name="adj" fmla="val 539323"/>
            </a:avLst>
          </a:prstGeom>
          <a:solidFill>
            <a:srgbClr val="4950BC"/>
          </a:solidFill>
          <a:ln/>
        </p:spPr>
      </p:sp>
      <p:sp>
        <p:nvSpPr>
          <p:cNvPr id="11" name="Text 8"/>
          <p:cNvSpPr/>
          <p:nvPr/>
        </p:nvSpPr>
        <p:spPr>
          <a:xfrm>
            <a:off x="6398181" y="3962281"/>
            <a:ext cx="2650688" cy="264914"/>
          </a:xfrm>
          <a:prstGeom prst="rect">
            <a:avLst/>
          </a:prstGeom>
          <a:noFill/>
          <a:ln/>
        </p:spPr>
        <p:txBody>
          <a:bodyPr wrap="none" lIns="0" tIns="0" rIns="0" bIns="0" rtlCol="0" anchor="t"/>
          <a:lstStyle/>
          <a:p>
            <a:pPr marL="0" indent="0" algn="l">
              <a:lnSpc>
                <a:spcPts val="2050"/>
              </a:lnSpc>
              <a:buNone/>
            </a:pPr>
            <a:r>
              <a:rPr lang="en-US" sz="1650" b="1" dirty="0">
                <a:solidFill>
                  <a:srgbClr val="272525"/>
                </a:solidFill>
                <a:latin typeface="Inter Bold" pitchFamily="34" charset="0"/>
                <a:ea typeface="Inter Bold" pitchFamily="34" charset="-122"/>
                <a:cs typeface="Inter Bold" pitchFamily="34" charset="-120"/>
              </a:rPr>
              <a:t>Transposed Convolutions</a:t>
            </a:r>
            <a:endParaRPr lang="en-US" sz="1650" dirty="0"/>
          </a:p>
        </p:txBody>
      </p:sp>
      <p:sp>
        <p:nvSpPr>
          <p:cNvPr id="12" name="Text 9"/>
          <p:cNvSpPr/>
          <p:nvPr/>
        </p:nvSpPr>
        <p:spPr>
          <a:xfrm>
            <a:off x="6398181" y="4396740"/>
            <a:ext cx="7646313" cy="542449"/>
          </a:xfrm>
          <a:prstGeom prst="rect">
            <a:avLst/>
          </a:prstGeom>
          <a:noFill/>
          <a:ln/>
        </p:spPr>
        <p:txBody>
          <a:bodyPr wrap="square" lIns="0" tIns="0" rIns="0" bIns="0" rtlCol="0" anchor="t"/>
          <a:lstStyle/>
          <a:p>
            <a:pPr marL="0" indent="0" algn="l">
              <a:lnSpc>
                <a:spcPts val="2100"/>
              </a:lnSpc>
              <a:buNone/>
            </a:pPr>
            <a:r>
              <a:rPr lang="en-US" sz="1300" dirty="0">
                <a:solidFill>
                  <a:srgbClr val="272525"/>
                </a:solidFill>
                <a:latin typeface="Inter" pitchFamily="34" charset="0"/>
                <a:ea typeface="Inter" pitchFamily="34" charset="-122"/>
                <a:cs typeface="Inter" pitchFamily="34" charset="-120"/>
              </a:rPr>
              <a:t>Generator employs transposed convolution layers enabling effective upsampling and detail preservation</a:t>
            </a:r>
            <a:endParaRPr lang="en-US" sz="1300" dirty="0"/>
          </a:p>
        </p:txBody>
      </p:sp>
      <p:sp>
        <p:nvSpPr>
          <p:cNvPr id="13" name="Shape 10"/>
          <p:cNvSpPr/>
          <p:nvPr/>
        </p:nvSpPr>
        <p:spPr>
          <a:xfrm>
            <a:off x="6143863" y="5368290"/>
            <a:ext cx="84773" cy="84773"/>
          </a:xfrm>
          <a:prstGeom prst="roundRect">
            <a:avLst>
              <a:gd name="adj" fmla="val 539323"/>
            </a:avLst>
          </a:prstGeom>
          <a:solidFill>
            <a:srgbClr val="4950BC"/>
          </a:solidFill>
          <a:ln/>
        </p:spPr>
      </p:sp>
      <p:sp>
        <p:nvSpPr>
          <p:cNvPr id="14" name="Text 11"/>
          <p:cNvSpPr/>
          <p:nvPr/>
        </p:nvSpPr>
        <p:spPr>
          <a:xfrm>
            <a:off x="6398181" y="5278279"/>
            <a:ext cx="2119551" cy="264914"/>
          </a:xfrm>
          <a:prstGeom prst="rect">
            <a:avLst/>
          </a:prstGeom>
          <a:noFill/>
          <a:ln/>
        </p:spPr>
        <p:txBody>
          <a:bodyPr wrap="none" lIns="0" tIns="0" rIns="0" bIns="0" rtlCol="0" anchor="t"/>
          <a:lstStyle/>
          <a:p>
            <a:pPr marL="0" indent="0" algn="l">
              <a:lnSpc>
                <a:spcPts val="2050"/>
              </a:lnSpc>
              <a:buNone/>
            </a:pPr>
            <a:r>
              <a:rPr lang="en-US" sz="1650" b="1" dirty="0">
                <a:solidFill>
                  <a:srgbClr val="272525"/>
                </a:solidFill>
                <a:latin typeface="Inter Bold" pitchFamily="34" charset="0"/>
                <a:ea typeface="Inter Bold" pitchFamily="34" charset="-122"/>
                <a:cs typeface="Inter Bold" pitchFamily="34" charset="-120"/>
              </a:rPr>
              <a:t>Structural Integrity</a:t>
            </a:r>
            <a:endParaRPr lang="en-US" sz="1650" dirty="0"/>
          </a:p>
        </p:txBody>
      </p:sp>
      <p:sp>
        <p:nvSpPr>
          <p:cNvPr id="15" name="Text 12"/>
          <p:cNvSpPr/>
          <p:nvPr/>
        </p:nvSpPr>
        <p:spPr>
          <a:xfrm>
            <a:off x="6398181" y="5712738"/>
            <a:ext cx="7646313" cy="542449"/>
          </a:xfrm>
          <a:prstGeom prst="rect">
            <a:avLst/>
          </a:prstGeom>
          <a:noFill/>
          <a:ln/>
        </p:spPr>
        <p:txBody>
          <a:bodyPr wrap="square" lIns="0" tIns="0" rIns="0" bIns="0" rtlCol="0" anchor="t"/>
          <a:lstStyle/>
          <a:p>
            <a:pPr marL="0" indent="0" algn="l">
              <a:lnSpc>
                <a:spcPts val="2100"/>
              </a:lnSpc>
              <a:buNone/>
            </a:pPr>
            <a:r>
              <a:rPr lang="en-US" sz="1300" dirty="0">
                <a:solidFill>
                  <a:srgbClr val="272525"/>
                </a:solidFill>
                <a:latin typeface="Inter" pitchFamily="34" charset="0"/>
                <a:ea typeface="Inter" pitchFamily="34" charset="-122"/>
                <a:cs typeface="Inter" pitchFamily="34" charset="-120"/>
              </a:rPr>
              <a:t>Maintains textural patterns and anatomical structures essential for diagnostic quality MRI reconstruction</a:t>
            </a:r>
            <a:endParaRPr lang="en-US" sz="1300" dirty="0"/>
          </a:p>
        </p:txBody>
      </p:sp>
      <p:sp>
        <p:nvSpPr>
          <p:cNvPr id="16" name="Shape 13"/>
          <p:cNvSpPr/>
          <p:nvPr/>
        </p:nvSpPr>
        <p:spPr>
          <a:xfrm>
            <a:off x="6143863" y="6684288"/>
            <a:ext cx="84773" cy="84773"/>
          </a:xfrm>
          <a:prstGeom prst="roundRect">
            <a:avLst>
              <a:gd name="adj" fmla="val 539323"/>
            </a:avLst>
          </a:prstGeom>
          <a:solidFill>
            <a:srgbClr val="4950BC"/>
          </a:solidFill>
          <a:ln/>
        </p:spPr>
      </p:sp>
      <p:sp>
        <p:nvSpPr>
          <p:cNvPr id="17" name="Text 14"/>
          <p:cNvSpPr/>
          <p:nvPr/>
        </p:nvSpPr>
        <p:spPr>
          <a:xfrm>
            <a:off x="6398181" y="6594277"/>
            <a:ext cx="2119551" cy="264914"/>
          </a:xfrm>
          <a:prstGeom prst="rect">
            <a:avLst/>
          </a:prstGeom>
          <a:noFill/>
          <a:ln/>
        </p:spPr>
        <p:txBody>
          <a:bodyPr wrap="none" lIns="0" tIns="0" rIns="0" bIns="0" rtlCol="0" anchor="t"/>
          <a:lstStyle/>
          <a:p>
            <a:pPr marL="0" indent="0" algn="l">
              <a:lnSpc>
                <a:spcPts val="2050"/>
              </a:lnSpc>
              <a:buNone/>
            </a:pPr>
            <a:r>
              <a:rPr lang="en-US" sz="1650" b="1" dirty="0">
                <a:solidFill>
                  <a:srgbClr val="272525"/>
                </a:solidFill>
                <a:latin typeface="Inter Bold" pitchFamily="34" charset="0"/>
                <a:ea typeface="Inter Bold" pitchFamily="34" charset="-122"/>
                <a:cs typeface="Inter Bold" pitchFamily="34" charset="-120"/>
              </a:rPr>
              <a:t>Training Stability</a:t>
            </a:r>
            <a:endParaRPr lang="en-US" sz="1650" dirty="0"/>
          </a:p>
        </p:txBody>
      </p:sp>
      <p:sp>
        <p:nvSpPr>
          <p:cNvPr id="18" name="Text 15"/>
          <p:cNvSpPr/>
          <p:nvPr/>
        </p:nvSpPr>
        <p:spPr>
          <a:xfrm>
            <a:off x="6398181" y="7028736"/>
            <a:ext cx="7646313" cy="542449"/>
          </a:xfrm>
          <a:prstGeom prst="rect">
            <a:avLst/>
          </a:prstGeom>
          <a:noFill/>
          <a:ln/>
        </p:spPr>
        <p:txBody>
          <a:bodyPr wrap="square" lIns="0" tIns="0" rIns="0" bIns="0" rtlCol="0" anchor="t"/>
          <a:lstStyle/>
          <a:p>
            <a:pPr marL="0" indent="0" algn="l">
              <a:lnSpc>
                <a:spcPts val="2100"/>
              </a:lnSpc>
              <a:buNone/>
            </a:pPr>
            <a:r>
              <a:rPr lang="en-US" sz="1300" dirty="0">
                <a:solidFill>
                  <a:srgbClr val="272525"/>
                </a:solidFill>
                <a:latin typeface="Inter" pitchFamily="34" charset="0"/>
                <a:ea typeface="Inter" pitchFamily="34" charset="-122"/>
                <a:cs typeface="Inter" pitchFamily="34" charset="-120"/>
              </a:rPr>
              <a:t>Provides more stable training dynamics and produces highly realistic medical image reconstructions</a:t>
            </a:r>
            <a:endParaRPr lang="en-US" sz="1300" dirty="0"/>
          </a:p>
        </p:txBody>
      </p:sp>
      <p:pic>
        <p:nvPicPr>
          <p:cNvPr id="19" name="Picture 18">
            <a:extLst>
              <a:ext uri="{FF2B5EF4-FFF2-40B4-BE49-F238E27FC236}">
                <a16:creationId xmlns:a16="http://schemas.microsoft.com/office/drawing/2014/main" id="{97A5A33D-408F-CAC9-A4E1-74391E46A59F}"/>
              </a:ext>
            </a:extLst>
          </p:cNvPr>
          <p:cNvPicPr>
            <a:picLocks noChangeAspect="1"/>
          </p:cNvPicPr>
          <p:nvPr/>
        </p:nvPicPr>
        <p:blipFill>
          <a:blip r:embed="rId4"/>
          <a:stretch>
            <a:fillRect/>
          </a:stretch>
        </p:blipFill>
        <p:spPr>
          <a:xfrm>
            <a:off x="12546597" y="7742753"/>
            <a:ext cx="2072820" cy="40389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19852" y="566857"/>
            <a:ext cx="4699754" cy="514112"/>
          </a:xfrm>
          <a:prstGeom prst="rect">
            <a:avLst/>
          </a:prstGeom>
          <a:noFill/>
          <a:ln/>
        </p:spPr>
        <p:txBody>
          <a:bodyPr wrap="none" lIns="0" tIns="0" rIns="0" bIns="0" rtlCol="0" anchor="t"/>
          <a:lstStyle/>
          <a:p>
            <a:pPr marL="0" indent="0" algn="l">
              <a:lnSpc>
                <a:spcPts val="4000"/>
              </a:lnSpc>
              <a:buNone/>
            </a:pPr>
            <a:r>
              <a:rPr lang="en-US" sz="3200" b="1" dirty="0">
                <a:solidFill>
                  <a:srgbClr val="000000"/>
                </a:solidFill>
                <a:latin typeface="Inter Bold" pitchFamily="34" charset="0"/>
                <a:ea typeface="Inter Bold" pitchFamily="34" charset="-122"/>
                <a:cs typeface="Inter Bold" pitchFamily="34" charset="-120"/>
              </a:rPr>
              <a:t>Training Workflow</a:t>
            </a:r>
            <a:endParaRPr lang="en-US" sz="3200" dirty="0"/>
          </a:p>
        </p:txBody>
      </p:sp>
      <p:pic>
        <p:nvPicPr>
          <p:cNvPr id="3" name="Image 0" descr="preencoded.png"/>
          <p:cNvPicPr>
            <a:picLocks noChangeAspect="1"/>
          </p:cNvPicPr>
          <p:nvPr/>
        </p:nvPicPr>
        <p:blipFill>
          <a:blip r:embed="rId3"/>
          <a:stretch>
            <a:fillRect/>
          </a:stretch>
        </p:blipFill>
        <p:spPr>
          <a:xfrm>
            <a:off x="719852" y="1492329"/>
            <a:ext cx="1028343" cy="1234083"/>
          </a:xfrm>
          <a:prstGeom prst="rect">
            <a:avLst/>
          </a:prstGeom>
        </p:spPr>
      </p:pic>
      <p:sp>
        <p:nvSpPr>
          <p:cNvPr id="4" name="Text 1"/>
          <p:cNvSpPr/>
          <p:nvPr/>
        </p:nvSpPr>
        <p:spPr>
          <a:xfrm>
            <a:off x="1953816" y="1697950"/>
            <a:ext cx="2571036" cy="321231"/>
          </a:xfrm>
          <a:prstGeom prst="rect">
            <a:avLst/>
          </a:prstGeom>
          <a:noFill/>
          <a:ln/>
        </p:spPr>
        <p:txBody>
          <a:bodyPr wrap="none" lIns="0" tIns="0" rIns="0" bIns="0" rtlCol="0" anchor="t"/>
          <a:lstStyle/>
          <a:p>
            <a:pPr marL="0" indent="0" algn="l">
              <a:lnSpc>
                <a:spcPts val="2500"/>
              </a:lnSpc>
              <a:buNone/>
            </a:pPr>
            <a:r>
              <a:rPr lang="en-US" sz="2000" b="1" dirty="0">
                <a:solidFill>
                  <a:srgbClr val="272525"/>
                </a:solidFill>
                <a:latin typeface="Inter Bold" pitchFamily="34" charset="0"/>
                <a:ea typeface="Inter Bold" pitchFamily="34" charset="-122"/>
                <a:cs typeface="Inter Bold" pitchFamily="34" charset="-120"/>
              </a:rPr>
              <a:t>Input Stage</a:t>
            </a:r>
            <a:endParaRPr lang="en-US" sz="2000" dirty="0"/>
          </a:p>
        </p:txBody>
      </p:sp>
      <p:sp>
        <p:nvSpPr>
          <p:cNvPr id="5" name="Text 2"/>
          <p:cNvSpPr/>
          <p:nvPr/>
        </p:nvSpPr>
        <p:spPr>
          <a:xfrm>
            <a:off x="1953816" y="1977984"/>
            <a:ext cx="11956733" cy="329089"/>
          </a:xfrm>
          <a:prstGeom prst="rect">
            <a:avLst/>
          </a:prstGeom>
          <a:noFill/>
          <a:ln/>
        </p:spPr>
        <p:txBody>
          <a:bodyPr wrap="none" lIns="0" tIns="0" rIns="0" bIns="0" rtlCol="0" anchor="t"/>
          <a:lstStyle/>
          <a:p>
            <a:pPr marL="0" indent="0" algn="l">
              <a:lnSpc>
                <a:spcPts val="2550"/>
              </a:lnSpc>
              <a:buNone/>
            </a:pPr>
            <a:r>
              <a:rPr lang="en-US" sz="1600" dirty="0">
                <a:solidFill>
                  <a:srgbClr val="272525"/>
                </a:solidFill>
                <a:latin typeface="Inter" pitchFamily="34" charset="0"/>
                <a:ea typeface="Inter" pitchFamily="34" charset="-122"/>
                <a:cs typeface="Inter" pitchFamily="34" charset="-120"/>
              </a:rPr>
              <a:t>Random noise vector or corrupted </a:t>
            </a:r>
          </a:p>
          <a:p>
            <a:pPr marL="0" indent="0" algn="l">
              <a:lnSpc>
                <a:spcPts val="2550"/>
              </a:lnSpc>
              <a:buNone/>
            </a:pPr>
            <a:r>
              <a:rPr lang="en-US" sz="1600" dirty="0">
                <a:solidFill>
                  <a:srgbClr val="272525"/>
                </a:solidFill>
                <a:latin typeface="Inter" pitchFamily="34" charset="0"/>
                <a:ea typeface="Inter" pitchFamily="34" charset="-122"/>
                <a:cs typeface="Inter" pitchFamily="34" charset="-120"/>
              </a:rPr>
              <a:t>MRI image fed into generator</a:t>
            </a:r>
            <a:endParaRPr lang="en-US" sz="1600" dirty="0"/>
          </a:p>
        </p:txBody>
      </p:sp>
      <p:pic>
        <p:nvPicPr>
          <p:cNvPr id="6" name="Image 1" descr="preencoded.png"/>
          <p:cNvPicPr>
            <a:picLocks noChangeAspect="1"/>
          </p:cNvPicPr>
          <p:nvPr/>
        </p:nvPicPr>
        <p:blipFill>
          <a:blip r:embed="rId4"/>
          <a:stretch>
            <a:fillRect/>
          </a:stretch>
        </p:blipFill>
        <p:spPr>
          <a:xfrm>
            <a:off x="719852" y="2726412"/>
            <a:ext cx="1028343" cy="1234083"/>
          </a:xfrm>
          <a:prstGeom prst="rect">
            <a:avLst/>
          </a:prstGeom>
        </p:spPr>
      </p:pic>
      <p:sp>
        <p:nvSpPr>
          <p:cNvPr id="7" name="Text 3"/>
          <p:cNvSpPr/>
          <p:nvPr/>
        </p:nvSpPr>
        <p:spPr>
          <a:xfrm>
            <a:off x="1953816" y="2932033"/>
            <a:ext cx="2571036" cy="321231"/>
          </a:xfrm>
          <a:prstGeom prst="rect">
            <a:avLst/>
          </a:prstGeom>
          <a:noFill/>
          <a:ln/>
        </p:spPr>
        <p:txBody>
          <a:bodyPr wrap="none" lIns="0" tIns="0" rIns="0" bIns="0" rtlCol="0" anchor="t"/>
          <a:lstStyle/>
          <a:p>
            <a:pPr marL="0" indent="0" algn="l">
              <a:lnSpc>
                <a:spcPts val="2500"/>
              </a:lnSpc>
              <a:buNone/>
            </a:pPr>
            <a:r>
              <a:rPr lang="en-US" sz="2000" b="1" dirty="0">
                <a:solidFill>
                  <a:srgbClr val="272525"/>
                </a:solidFill>
                <a:latin typeface="Inter Bold" pitchFamily="34" charset="0"/>
                <a:ea typeface="Inter Bold" pitchFamily="34" charset="-122"/>
                <a:cs typeface="Inter Bold" pitchFamily="34" charset="-120"/>
              </a:rPr>
              <a:t>Generation</a:t>
            </a:r>
            <a:endParaRPr lang="en-US" sz="2000" dirty="0"/>
          </a:p>
        </p:txBody>
      </p:sp>
      <p:sp>
        <p:nvSpPr>
          <p:cNvPr id="8" name="Text 4"/>
          <p:cNvSpPr/>
          <p:nvPr/>
        </p:nvSpPr>
        <p:spPr>
          <a:xfrm>
            <a:off x="1953816" y="3204091"/>
            <a:ext cx="11956733" cy="329089"/>
          </a:xfrm>
          <a:prstGeom prst="rect">
            <a:avLst/>
          </a:prstGeom>
          <a:noFill/>
          <a:ln/>
        </p:spPr>
        <p:txBody>
          <a:bodyPr wrap="none" lIns="0" tIns="0" rIns="0" bIns="0" rtlCol="0" anchor="t"/>
          <a:lstStyle/>
          <a:p>
            <a:pPr marL="0" indent="0" algn="l">
              <a:lnSpc>
                <a:spcPts val="2550"/>
              </a:lnSpc>
              <a:buNone/>
            </a:pPr>
            <a:r>
              <a:rPr lang="en-US" sz="1600" dirty="0">
                <a:solidFill>
                  <a:srgbClr val="272525"/>
                </a:solidFill>
                <a:latin typeface="Inter" pitchFamily="34" charset="0"/>
                <a:ea typeface="Inter" pitchFamily="34" charset="-122"/>
                <a:cs typeface="Inter" pitchFamily="34" charset="-120"/>
              </a:rPr>
              <a:t>Generator produces reconstructed MRI </a:t>
            </a:r>
          </a:p>
          <a:p>
            <a:pPr marL="0" indent="0" algn="l">
              <a:lnSpc>
                <a:spcPts val="2550"/>
              </a:lnSpc>
              <a:buNone/>
            </a:pPr>
            <a:r>
              <a:rPr lang="en-US" sz="1600" dirty="0">
                <a:solidFill>
                  <a:srgbClr val="272525"/>
                </a:solidFill>
                <a:latin typeface="Inter" pitchFamily="34" charset="0"/>
                <a:ea typeface="Inter" pitchFamily="34" charset="-122"/>
                <a:cs typeface="Inter" pitchFamily="34" charset="-120"/>
              </a:rPr>
              <a:t>maintaining anatomical structure</a:t>
            </a:r>
            <a:endParaRPr lang="en-US" sz="1600" dirty="0"/>
          </a:p>
        </p:txBody>
      </p:sp>
      <p:pic>
        <p:nvPicPr>
          <p:cNvPr id="9" name="Image 2" descr="preencoded.png"/>
          <p:cNvPicPr>
            <a:picLocks noChangeAspect="1"/>
          </p:cNvPicPr>
          <p:nvPr/>
        </p:nvPicPr>
        <p:blipFill>
          <a:blip r:embed="rId5"/>
          <a:stretch>
            <a:fillRect/>
          </a:stretch>
        </p:blipFill>
        <p:spPr>
          <a:xfrm>
            <a:off x="719852" y="3960495"/>
            <a:ext cx="1028343" cy="1234083"/>
          </a:xfrm>
          <a:prstGeom prst="rect">
            <a:avLst/>
          </a:prstGeom>
        </p:spPr>
      </p:pic>
      <p:sp>
        <p:nvSpPr>
          <p:cNvPr id="10" name="Text 5"/>
          <p:cNvSpPr/>
          <p:nvPr/>
        </p:nvSpPr>
        <p:spPr>
          <a:xfrm>
            <a:off x="1953816" y="4166116"/>
            <a:ext cx="2571036" cy="321231"/>
          </a:xfrm>
          <a:prstGeom prst="rect">
            <a:avLst/>
          </a:prstGeom>
          <a:noFill/>
          <a:ln/>
        </p:spPr>
        <p:txBody>
          <a:bodyPr wrap="none" lIns="0" tIns="0" rIns="0" bIns="0" rtlCol="0" anchor="t"/>
          <a:lstStyle/>
          <a:p>
            <a:pPr marL="0" indent="0" algn="l">
              <a:lnSpc>
                <a:spcPts val="2500"/>
              </a:lnSpc>
              <a:buNone/>
            </a:pPr>
            <a:r>
              <a:rPr lang="en-US" sz="2000" b="1" dirty="0">
                <a:solidFill>
                  <a:srgbClr val="272525"/>
                </a:solidFill>
                <a:latin typeface="Inter Bold" pitchFamily="34" charset="0"/>
                <a:ea typeface="Inter Bold" pitchFamily="34" charset="-122"/>
                <a:cs typeface="Inter Bold" pitchFamily="34" charset="-120"/>
              </a:rPr>
              <a:t>Discrimination</a:t>
            </a:r>
            <a:endParaRPr lang="en-US" sz="2000" dirty="0"/>
          </a:p>
        </p:txBody>
      </p:sp>
      <p:sp>
        <p:nvSpPr>
          <p:cNvPr id="11" name="Text 6"/>
          <p:cNvSpPr/>
          <p:nvPr/>
        </p:nvSpPr>
        <p:spPr>
          <a:xfrm>
            <a:off x="1953816" y="4454126"/>
            <a:ext cx="11956733" cy="329089"/>
          </a:xfrm>
          <a:prstGeom prst="rect">
            <a:avLst/>
          </a:prstGeom>
          <a:noFill/>
          <a:ln/>
        </p:spPr>
        <p:txBody>
          <a:bodyPr wrap="none" lIns="0" tIns="0" rIns="0" bIns="0" rtlCol="0" anchor="t"/>
          <a:lstStyle/>
          <a:p>
            <a:pPr marL="0" indent="0" algn="l">
              <a:lnSpc>
                <a:spcPts val="2550"/>
              </a:lnSpc>
              <a:buNone/>
            </a:pPr>
            <a:r>
              <a:rPr lang="en-US" sz="1600" dirty="0">
                <a:solidFill>
                  <a:srgbClr val="272525"/>
                </a:solidFill>
                <a:latin typeface="Inter" pitchFamily="34" charset="0"/>
                <a:ea typeface="Inter" pitchFamily="34" charset="-122"/>
                <a:cs typeface="Inter" pitchFamily="34" charset="-120"/>
              </a:rPr>
              <a:t>Discriminator evaluates authenticity </a:t>
            </a:r>
          </a:p>
          <a:p>
            <a:pPr marL="0" indent="0" algn="l">
              <a:lnSpc>
                <a:spcPts val="2550"/>
              </a:lnSpc>
              <a:buNone/>
            </a:pPr>
            <a:r>
              <a:rPr lang="en-US" sz="1600" dirty="0">
                <a:solidFill>
                  <a:srgbClr val="272525"/>
                </a:solidFill>
                <a:latin typeface="Inter" pitchFamily="34" charset="0"/>
                <a:ea typeface="Inter" pitchFamily="34" charset="-122"/>
                <a:cs typeface="Inter" pitchFamily="34" charset="-120"/>
              </a:rPr>
              <a:t>against real MRI database</a:t>
            </a:r>
            <a:endParaRPr lang="en-US" sz="1600" dirty="0"/>
          </a:p>
        </p:txBody>
      </p:sp>
      <p:pic>
        <p:nvPicPr>
          <p:cNvPr id="12" name="Image 3" descr="preencoded.png"/>
          <p:cNvPicPr>
            <a:picLocks noChangeAspect="1"/>
          </p:cNvPicPr>
          <p:nvPr/>
        </p:nvPicPr>
        <p:blipFill>
          <a:blip r:embed="rId6"/>
          <a:stretch>
            <a:fillRect/>
          </a:stretch>
        </p:blipFill>
        <p:spPr>
          <a:xfrm>
            <a:off x="719852" y="5194578"/>
            <a:ext cx="1028343" cy="1234083"/>
          </a:xfrm>
          <a:prstGeom prst="rect">
            <a:avLst/>
          </a:prstGeom>
        </p:spPr>
      </p:pic>
      <p:sp>
        <p:nvSpPr>
          <p:cNvPr id="13" name="Text 7"/>
          <p:cNvSpPr/>
          <p:nvPr/>
        </p:nvSpPr>
        <p:spPr>
          <a:xfrm>
            <a:off x="1953816" y="5400199"/>
            <a:ext cx="2571036" cy="321231"/>
          </a:xfrm>
          <a:prstGeom prst="rect">
            <a:avLst/>
          </a:prstGeom>
          <a:noFill/>
          <a:ln/>
        </p:spPr>
        <p:txBody>
          <a:bodyPr wrap="none" lIns="0" tIns="0" rIns="0" bIns="0" rtlCol="0" anchor="t"/>
          <a:lstStyle/>
          <a:p>
            <a:pPr marL="0" indent="0" algn="l">
              <a:lnSpc>
                <a:spcPts val="2500"/>
              </a:lnSpc>
              <a:buNone/>
            </a:pPr>
            <a:r>
              <a:rPr lang="en-US" sz="2000" b="1" dirty="0">
                <a:solidFill>
                  <a:srgbClr val="272525"/>
                </a:solidFill>
                <a:latin typeface="Inter Bold" pitchFamily="34" charset="0"/>
                <a:ea typeface="Inter Bold" pitchFamily="34" charset="-122"/>
                <a:cs typeface="Inter Bold" pitchFamily="34" charset="-120"/>
              </a:rPr>
              <a:t>Optimization</a:t>
            </a:r>
            <a:endParaRPr lang="en-US" sz="2000" dirty="0"/>
          </a:p>
        </p:txBody>
      </p:sp>
      <p:sp>
        <p:nvSpPr>
          <p:cNvPr id="14" name="Text 8"/>
          <p:cNvSpPr/>
          <p:nvPr/>
        </p:nvSpPr>
        <p:spPr>
          <a:xfrm>
            <a:off x="1953816" y="5844778"/>
            <a:ext cx="11956733" cy="329089"/>
          </a:xfrm>
          <a:prstGeom prst="rect">
            <a:avLst/>
          </a:prstGeom>
          <a:noFill/>
          <a:ln/>
        </p:spPr>
        <p:txBody>
          <a:bodyPr wrap="none" lIns="0" tIns="0" rIns="0" bIns="0" rtlCol="0" anchor="t"/>
          <a:lstStyle/>
          <a:p>
            <a:pPr marL="0" indent="0" algn="l">
              <a:lnSpc>
                <a:spcPts val="2550"/>
              </a:lnSpc>
              <a:buNone/>
            </a:pPr>
            <a:r>
              <a:rPr lang="en-US" sz="1600" dirty="0">
                <a:solidFill>
                  <a:srgbClr val="272525"/>
                </a:solidFill>
                <a:latin typeface="Inter" pitchFamily="34" charset="0"/>
                <a:ea typeface="Inter" pitchFamily="34" charset="-122"/>
                <a:cs typeface="Inter" pitchFamily="34" charset="-120"/>
              </a:rPr>
              <a:t>Backpropagation refines both models using error gradients</a:t>
            </a:r>
            <a:endParaRPr lang="en-US" sz="1600" dirty="0"/>
          </a:p>
        </p:txBody>
      </p:sp>
      <p:pic>
        <p:nvPicPr>
          <p:cNvPr id="15" name="Image 4" descr="preencoded.png"/>
          <p:cNvPicPr>
            <a:picLocks noChangeAspect="1"/>
          </p:cNvPicPr>
          <p:nvPr/>
        </p:nvPicPr>
        <p:blipFill>
          <a:blip r:embed="rId7"/>
          <a:stretch>
            <a:fillRect/>
          </a:stretch>
        </p:blipFill>
        <p:spPr>
          <a:xfrm>
            <a:off x="719852" y="6428661"/>
            <a:ext cx="1028343" cy="1234083"/>
          </a:xfrm>
          <a:prstGeom prst="rect">
            <a:avLst/>
          </a:prstGeom>
        </p:spPr>
      </p:pic>
      <p:sp>
        <p:nvSpPr>
          <p:cNvPr id="16" name="Text 9"/>
          <p:cNvSpPr/>
          <p:nvPr/>
        </p:nvSpPr>
        <p:spPr>
          <a:xfrm>
            <a:off x="1953816" y="6634282"/>
            <a:ext cx="2571036" cy="321231"/>
          </a:xfrm>
          <a:prstGeom prst="rect">
            <a:avLst/>
          </a:prstGeom>
          <a:noFill/>
          <a:ln/>
        </p:spPr>
        <p:txBody>
          <a:bodyPr wrap="none" lIns="0" tIns="0" rIns="0" bIns="0" rtlCol="0" anchor="t"/>
          <a:lstStyle/>
          <a:p>
            <a:pPr marL="0" indent="0" algn="l">
              <a:lnSpc>
                <a:spcPts val="2500"/>
              </a:lnSpc>
              <a:buNone/>
            </a:pPr>
            <a:r>
              <a:rPr lang="en-US" sz="2000" b="1" dirty="0">
                <a:solidFill>
                  <a:srgbClr val="272525"/>
                </a:solidFill>
                <a:latin typeface="Inter Bold" pitchFamily="34" charset="0"/>
                <a:ea typeface="Inter Bold" pitchFamily="34" charset="-122"/>
                <a:cs typeface="Inter Bold" pitchFamily="34" charset="-120"/>
              </a:rPr>
              <a:t>Convergence</a:t>
            </a:r>
            <a:endParaRPr lang="en-US" sz="2000" dirty="0"/>
          </a:p>
        </p:txBody>
      </p:sp>
      <p:sp>
        <p:nvSpPr>
          <p:cNvPr id="17" name="Text 10"/>
          <p:cNvSpPr/>
          <p:nvPr/>
        </p:nvSpPr>
        <p:spPr>
          <a:xfrm>
            <a:off x="1953816" y="7078861"/>
            <a:ext cx="11956733" cy="329089"/>
          </a:xfrm>
          <a:prstGeom prst="rect">
            <a:avLst/>
          </a:prstGeom>
          <a:noFill/>
          <a:ln/>
        </p:spPr>
        <p:txBody>
          <a:bodyPr wrap="none" lIns="0" tIns="0" rIns="0" bIns="0" rtlCol="0" anchor="t"/>
          <a:lstStyle/>
          <a:p>
            <a:pPr marL="0" indent="0" algn="l">
              <a:lnSpc>
                <a:spcPts val="2550"/>
              </a:lnSpc>
              <a:buNone/>
            </a:pPr>
            <a:r>
              <a:rPr lang="en-US" sz="1600" dirty="0">
                <a:solidFill>
                  <a:srgbClr val="272525"/>
                </a:solidFill>
                <a:latin typeface="Inter" pitchFamily="34" charset="0"/>
                <a:ea typeface="Inter" pitchFamily="34" charset="-122"/>
                <a:cs typeface="Inter" pitchFamily="34" charset="-120"/>
              </a:rPr>
              <a:t>Training continues until discriminator cannot reliably distinguish real from generated</a:t>
            </a:r>
            <a:endParaRPr lang="en-US" sz="1600" dirty="0"/>
          </a:p>
        </p:txBody>
      </p:sp>
      <p:pic>
        <p:nvPicPr>
          <p:cNvPr id="18" name="Picture 17">
            <a:extLst>
              <a:ext uri="{FF2B5EF4-FFF2-40B4-BE49-F238E27FC236}">
                <a16:creationId xmlns:a16="http://schemas.microsoft.com/office/drawing/2014/main" id="{ADDA7C0B-2665-3B73-F6AE-C714A18D2C97}"/>
              </a:ext>
            </a:extLst>
          </p:cNvPr>
          <p:cNvPicPr>
            <a:picLocks noChangeAspect="1"/>
          </p:cNvPicPr>
          <p:nvPr/>
        </p:nvPicPr>
        <p:blipFill>
          <a:blip r:embed="rId8"/>
          <a:stretch>
            <a:fillRect/>
          </a:stretch>
        </p:blipFill>
        <p:spPr>
          <a:xfrm>
            <a:off x="12546597" y="7742753"/>
            <a:ext cx="2072820" cy="403895"/>
          </a:xfrm>
          <a:prstGeom prst="rect">
            <a:avLst/>
          </a:prstGeom>
        </p:spPr>
      </p:pic>
      <p:pic>
        <p:nvPicPr>
          <p:cNvPr id="19" name="Picture 18">
            <a:extLst>
              <a:ext uri="{FF2B5EF4-FFF2-40B4-BE49-F238E27FC236}">
                <a16:creationId xmlns:a16="http://schemas.microsoft.com/office/drawing/2014/main" id="{1FDAD95A-C7A2-B72C-B722-720C7836A1D5}"/>
              </a:ext>
            </a:extLst>
          </p:cNvPr>
          <p:cNvPicPr>
            <a:picLocks noChangeAspect="1"/>
          </p:cNvPicPr>
          <p:nvPr/>
        </p:nvPicPr>
        <p:blipFill>
          <a:blip r:embed="rId9"/>
          <a:srcRect l="3477" r="5473"/>
          <a:stretch>
            <a:fillRect/>
          </a:stretch>
        </p:blipFill>
        <p:spPr>
          <a:xfrm>
            <a:off x="5716430" y="1387256"/>
            <a:ext cx="8778240" cy="380732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7052A9-33AB-F056-0B8B-BC8033AA5634}"/>
            </a:ext>
          </a:extLst>
        </p:cNvPr>
        <p:cNvGrpSpPr/>
        <p:nvPr/>
      </p:nvGrpSpPr>
      <p:grpSpPr>
        <a:xfrm>
          <a:off x="0" y="0"/>
          <a:ext cx="0" cy="0"/>
          <a:chOff x="0" y="0"/>
          <a:chExt cx="0" cy="0"/>
        </a:xfrm>
      </p:grpSpPr>
      <p:pic>
        <p:nvPicPr>
          <p:cNvPr id="21" name="Picture 20">
            <a:extLst>
              <a:ext uri="{FF2B5EF4-FFF2-40B4-BE49-F238E27FC236}">
                <a16:creationId xmlns:a16="http://schemas.microsoft.com/office/drawing/2014/main" id="{1025E6E5-F832-33AD-D7DE-4BD9B6D68FC0}"/>
              </a:ext>
            </a:extLst>
          </p:cNvPr>
          <p:cNvPicPr>
            <a:picLocks noChangeAspect="1"/>
          </p:cNvPicPr>
          <p:nvPr/>
        </p:nvPicPr>
        <p:blipFill>
          <a:blip r:embed="rId3"/>
          <a:stretch>
            <a:fillRect/>
          </a:stretch>
        </p:blipFill>
        <p:spPr>
          <a:xfrm>
            <a:off x="12302300" y="7114012"/>
            <a:ext cx="2225233" cy="1082134"/>
          </a:xfrm>
          <a:prstGeom prst="rect">
            <a:avLst/>
          </a:prstGeom>
        </p:spPr>
      </p:pic>
      <p:pic>
        <p:nvPicPr>
          <p:cNvPr id="23" name="Picture 22">
            <a:extLst>
              <a:ext uri="{FF2B5EF4-FFF2-40B4-BE49-F238E27FC236}">
                <a16:creationId xmlns:a16="http://schemas.microsoft.com/office/drawing/2014/main" id="{92D57939-A553-C9DE-AA4F-DC8371C166A7}"/>
              </a:ext>
            </a:extLst>
          </p:cNvPr>
          <p:cNvPicPr>
            <a:picLocks noChangeAspect="1"/>
          </p:cNvPicPr>
          <p:nvPr/>
        </p:nvPicPr>
        <p:blipFill>
          <a:blip r:embed="rId4"/>
          <a:stretch>
            <a:fillRect/>
          </a:stretch>
        </p:blipFill>
        <p:spPr>
          <a:xfrm>
            <a:off x="5396383" y="4360127"/>
            <a:ext cx="8474678" cy="3139998"/>
          </a:xfrm>
          <a:prstGeom prst="rect">
            <a:avLst/>
          </a:prstGeom>
        </p:spPr>
      </p:pic>
      <p:pic>
        <p:nvPicPr>
          <p:cNvPr id="25" name="Picture 24">
            <a:extLst>
              <a:ext uri="{FF2B5EF4-FFF2-40B4-BE49-F238E27FC236}">
                <a16:creationId xmlns:a16="http://schemas.microsoft.com/office/drawing/2014/main" id="{6F3A6348-E291-E067-3ED6-88BEE115311A}"/>
              </a:ext>
            </a:extLst>
          </p:cNvPr>
          <p:cNvPicPr>
            <a:picLocks noChangeAspect="1"/>
          </p:cNvPicPr>
          <p:nvPr/>
        </p:nvPicPr>
        <p:blipFill>
          <a:blip r:embed="rId5"/>
          <a:stretch>
            <a:fillRect/>
          </a:stretch>
        </p:blipFill>
        <p:spPr>
          <a:xfrm>
            <a:off x="5396383" y="524108"/>
            <a:ext cx="8474678" cy="3139998"/>
          </a:xfrm>
          <a:prstGeom prst="rect">
            <a:avLst/>
          </a:prstGeom>
        </p:spPr>
      </p:pic>
      <p:sp>
        <p:nvSpPr>
          <p:cNvPr id="26" name="TextBox 25">
            <a:extLst>
              <a:ext uri="{FF2B5EF4-FFF2-40B4-BE49-F238E27FC236}">
                <a16:creationId xmlns:a16="http://schemas.microsoft.com/office/drawing/2014/main" id="{BB49E722-619B-DC1D-A0A2-7BF9F867AFB1}"/>
              </a:ext>
            </a:extLst>
          </p:cNvPr>
          <p:cNvSpPr txBox="1"/>
          <p:nvPr/>
        </p:nvSpPr>
        <p:spPr>
          <a:xfrm>
            <a:off x="1248937" y="1817108"/>
            <a:ext cx="2999678" cy="553998"/>
          </a:xfrm>
          <a:prstGeom prst="rect">
            <a:avLst/>
          </a:prstGeom>
          <a:noFill/>
        </p:spPr>
        <p:txBody>
          <a:bodyPr wrap="square" rtlCol="0">
            <a:spAutoFit/>
          </a:bodyPr>
          <a:lstStyle/>
          <a:p>
            <a:r>
              <a:rPr lang="en-IN" sz="3000" b="1" dirty="0">
                <a:latin typeface="Lora" pitchFamily="2" charset="0"/>
              </a:rPr>
              <a:t>EPOCH 1:</a:t>
            </a:r>
          </a:p>
        </p:txBody>
      </p:sp>
      <p:sp>
        <p:nvSpPr>
          <p:cNvPr id="27" name="TextBox 26">
            <a:extLst>
              <a:ext uri="{FF2B5EF4-FFF2-40B4-BE49-F238E27FC236}">
                <a16:creationId xmlns:a16="http://schemas.microsoft.com/office/drawing/2014/main" id="{CA78D226-BFCC-924A-3C9D-801F9118F720}"/>
              </a:ext>
            </a:extLst>
          </p:cNvPr>
          <p:cNvSpPr txBox="1"/>
          <p:nvPr/>
        </p:nvSpPr>
        <p:spPr>
          <a:xfrm>
            <a:off x="1248937" y="5653127"/>
            <a:ext cx="2999678" cy="553998"/>
          </a:xfrm>
          <a:prstGeom prst="rect">
            <a:avLst/>
          </a:prstGeom>
          <a:noFill/>
        </p:spPr>
        <p:txBody>
          <a:bodyPr wrap="square" rtlCol="0">
            <a:spAutoFit/>
          </a:bodyPr>
          <a:lstStyle/>
          <a:p>
            <a:r>
              <a:rPr lang="en-IN" sz="3000" b="1" dirty="0">
                <a:latin typeface="Lora" pitchFamily="2" charset="0"/>
              </a:rPr>
              <a:t>EPOCH 10:</a:t>
            </a:r>
          </a:p>
        </p:txBody>
      </p:sp>
    </p:spTree>
    <p:extLst>
      <p:ext uri="{BB962C8B-B14F-4D97-AF65-F5344CB8AC3E}">
        <p14:creationId xmlns:p14="http://schemas.microsoft.com/office/powerpoint/2010/main" val="33545312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51999" y="758904"/>
            <a:ext cx="8457843" cy="537210"/>
          </a:xfrm>
          <a:prstGeom prst="rect">
            <a:avLst/>
          </a:prstGeom>
          <a:noFill/>
          <a:ln/>
        </p:spPr>
        <p:txBody>
          <a:bodyPr wrap="none" lIns="0" tIns="0" rIns="0" bIns="0" rtlCol="0" anchor="t"/>
          <a:lstStyle/>
          <a:p>
            <a:pPr marL="0" indent="0" algn="l">
              <a:lnSpc>
                <a:spcPts val="4200"/>
              </a:lnSpc>
              <a:buNone/>
            </a:pPr>
            <a:r>
              <a:rPr lang="en-US" sz="3350" b="1" dirty="0">
                <a:solidFill>
                  <a:srgbClr val="000000"/>
                </a:solidFill>
                <a:latin typeface="Inter Bold" pitchFamily="34" charset="0"/>
                <a:ea typeface="Inter Bold" pitchFamily="34" charset="-122"/>
                <a:cs typeface="Inter Bold" pitchFamily="34" charset="-120"/>
              </a:rPr>
              <a:t>Evaluation Metrics</a:t>
            </a:r>
            <a:endParaRPr lang="en-US" sz="3350" dirty="0"/>
          </a:p>
        </p:txBody>
      </p:sp>
      <p:sp>
        <p:nvSpPr>
          <p:cNvPr id="3" name="Text 1"/>
          <p:cNvSpPr/>
          <p:nvPr/>
        </p:nvSpPr>
        <p:spPr>
          <a:xfrm>
            <a:off x="751999" y="1833205"/>
            <a:ext cx="2774156" cy="335756"/>
          </a:xfrm>
          <a:prstGeom prst="rect">
            <a:avLst/>
          </a:prstGeom>
          <a:noFill/>
          <a:ln/>
        </p:spPr>
        <p:txBody>
          <a:bodyPr wrap="none" lIns="0" tIns="0" rIns="0" bIns="0" rtlCol="0" anchor="t"/>
          <a:lstStyle/>
          <a:p>
            <a:pPr marL="0" indent="0" algn="l">
              <a:lnSpc>
                <a:spcPts val="2600"/>
              </a:lnSpc>
              <a:buNone/>
            </a:pPr>
            <a:r>
              <a:rPr lang="en-US" sz="2100" b="1" dirty="0">
                <a:solidFill>
                  <a:srgbClr val="000000"/>
                </a:solidFill>
                <a:latin typeface="Inter Bold" pitchFamily="34" charset="0"/>
                <a:ea typeface="Inter Bold" pitchFamily="34" charset="-122"/>
                <a:cs typeface="Inter Bold" pitchFamily="34" charset="-120"/>
              </a:rPr>
              <a:t>Performance Metrics</a:t>
            </a:r>
            <a:endParaRPr lang="en-US" sz="2100" dirty="0"/>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1999" y="2410658"/>
            <a:ext cx="429697" cy="429697"/>
          </a:xfrm>
          <a:prstGeom prst="rect">
            <a:avLst/>
          </a:prstGeom>
        </p:spPr>
      </p:pic>
      <p:sp>
        <p:nvSpPr>
          <p:cNvPr id="5" name="Text 2"/>
          <p:cNvSpPr/>
          <p:nvPr/>
        </p:nvSpPr>
        <p:spPr>
          <a:xfrm>
            <a:off x="1450300" y="2484477"/>
            <a:ext cx="2686050" cy="335756"/>
          </a:xfrm>
          <a:prstGeom prst="rect">
            <a:avLst/>
          </a:prstGeom>
          <a:noFill/>
          <a:ln/>
        </p:spPr>
        <p:txBody>
          <a:bodyPr wrap="none" lIns="0" tIns="0" rIns="0" bIns="0" rtlCol="0" anchor="t"/>
          <a:lstStyle/>
          <a:p>
            <a:pPr marL="0" indent="0" algn="l">
              <a:lnSpc>
                <a:spcPts val="2600"/>
              </a:lnSpc>
              <a:buNone/>
            </a:pPr>
            <a:r>
              <a:rPr lang="en-US" sz="2100" b="1" dirty="0">
                <a:solidFill>
                  <a:srgbClr val="272525"/>
                </a:solidFill>
                <a:latin typeface="Inter Bold" pitchFamily="34" charset="0"/>
                <a:ea typeface="Inter Bold" pitchFamily="34" charset="-122"/>
                <a:cs typeface="Inter Bold" pitchFamily="34" charset="-120"/>
              </a:rPr>
              <a:t>PSNR</a:t>
            </a:r>
            <a:endParaRPr lang="en-US" sz="2100" dirty="0"/>
          </a:p>
        </p:txBody>
      </p:sp>
      <p:sp>
        <p:nvSpPr>
          <p:cNvPr id="6" name="Text 3"/>
          <p:cNvSpPr/>
          <p:nvPr/>
        </p:nvSpPr>
        <p:spPr>
          <a:xfrm>
            <a:off x="1450300" y="3035022"/>
            <a:ext cx="4920258" cy="687705"/>
          </a:xfrm>
          <a:prstGeom prst="rect">
            <a:avLst/>
          </a:prstGeom>
          <a:noFill/>
          <a:ln/>
        </p:spPr>
        <p:txBody>
          <a:bodyPr wrap="square" lIns="0" tIns="0" rIns="0" bIns="0" rtlCol="0" anchor="t"/>
          <a:lstStyle/>
          <a:p>
            <a:pPr marL="0" indent="0" algn="l">
              <a:lnSpc>
                <a:spcPts val="2700"/>
              </a:lnSpc>
              <a:buNone/>
            </a:pPr>
            <a:r>
              <a:rPr lang="en-US" sz="1650" dirty="0">
                <a:solidFill>
                  <a:srgbClr val="272525"/>
                </a:solidFill>
                <a:latin typeface="Inter" pitchFamily="34" charset="0"/>
                <a:ea typeface="Inter" pitchFamily="34" charset="-122"/>
                <a:cs typeface="Inter" pitchFamily="34" charset="-120"/>
              </a:rPr>
              <a:t>Peak Signal-to-Noise Ratio measures pixel-level reconstruction accuracy</a:t>
            </a:r>
            <a:endParaRPr lang="en-US" sz="1650" dirty="0"/>
          </a:p>
        </p:txBody>
      </p:sp>
      <p:pic>
        <p:nvPicPr>
          <p:cNvPr id="7"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51999" y="4152424"/>
            <a:ext cx="429697" cy="429697"/>
          </a:xfrm>
          <a:prstGeom prst="rect">
            <a:avLst/>
          </a:prstGeom>
        </p:spPr>
      </p:pic>
      <p:sp>
        <p:nvSpPr>
          <p:cNvPr id="8" name="Text 4"/>
          <p:cNvSpPr/>
          <p:nvPr/>
        </p:nvSpPr>
        <p:spPr>
          <a:xfrm>
            <a:off x="1450300" y="4226243"/>
            <a:ext cx="2686050" cy="335756"/>
          </a:xfrm>
          <a:prstGeom prst="rect">
            <a:avLst/>
          </a:prstGeom>
          <a:noFill/>
          <a:ln/>
        </p:spPr>
        <p:txBody>
          <a:bodyPr wrap="none" lIns="0" tIns="0" rIns="0" bIns="0" rtlCol="0" anchor="t"/>
          <a:lstStyle/>
          <a:p>
            <a:pPr marL="0" indent="0" algn="l">
              <a:lnSpc>
                <a:spcPts val="2600"/>
              </a:lnSpc>
              <a:buNone/>
            </a:pPr>
            <a:r>
              <a:rPr lang="en-US" sz="2100" b="1" dirty="0">
                <a:solidFill>
                  <a:srgbClr val="272525"/>
                </a:solidFill>
                <a:latin typeface="Inter Bold" pitchFamily="34" charset="0"/>
                <a:ea typeface="Inter Bold" pitchFamily="34" charset="-122"/>
                <a:cs typeface="Inter Bold" pitchFamily="34" charset="-120"/>
              </a:rPr>
              <a:t>SSIM</a:t>
            </a:r>
            <a:endParaRPr lang="en-US" sz="2100" dirty="0"/>
          </a:p>
        </p:txBody>
      </p:sp>
      <p:sp>
        <p:nvSpPr>
          <p:cNvPr id="9" name="Text 5"/>
          <p:cNvSpPr/>
          <p:nvPr/>
        </p:nvSpPr>
        <p:spPr>
          <a:xfrm>
            <a:off x="1450300" y="4776788"/>
            <a:ext cx="4920258" cy="687705"/>
          </a:xfrm>
          <a:prstGeom prst="rect">
            <a:avLst/>
          </a:prstGeom>
          <a:noFill/>
          <a:ln/>
        </p:spPr>
        <p:txBody>
          <a:bodyPr wrap="square" lIns="0" tIns="0" rIns="0" bIns="0" rtlCol="0" anchor="t"/>
          <a:lstStyle/>
          <a:p>
            <a:pPr marL="0" indent="0" algn="l">
              <a:lnSpc>
                <a:spcPts val="2700"/>
              </a:lnSpc>
              <a:buNone/>
            </a:pPr>
            <a:r>
              <a:rPr lang="en-US" sz="1650" dirty="0">
                <a:solidFill>
                  <a:srgbClr val="272525"/>
                </a:solidFill>
                <a:latin typeface="Inter" pitchFamily="34" charset="0"/>
                <a:ea typeface="Inter" pitchFamily="34" charset="-122"/>
                <a:cs typeface="Inter" pitchFamily="34" charset="-120"/>
              </a:rPr>
              <a:t>Structural Similarity Index evaluates anatomical pattern preservation</a:t>
            </a:r>
            <a:endParaRPr lang="en-US" sz="1650" dirty="0"/>
          </a:p>
        </p:txBody>
      </p:sp>
      <p:pic>
        <p:nvPicPr>
          <p:cNvPr id="10"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51999" y="5894189"/>
            <a:ext cx="429697" cy="429697"/>
          </a:xfrm>
          <a:prstGeom prst="rect">
            <a:avLst/>
          </a:prstGeom>
        </p:spPr>
      </p:pic>
      <p:sp>
        <p:nvSpPr>
          <p:cNvPr id="11" name="Text 6"/>
          <p:cNvSpPr/>
          <p:nvPr/>
        </p:nvSpPr>
        <p:spPr>
          <a:xfrm>
            <a:off x="1450300" y="5968008"/>
            <a:ext cx="2686050" cy="335756"/>
          </a:xfrm>
          <a:prstGeom prst="rect">
            <a:avLst/>
          </a:prstGeom>
          <a:noFill/>
          <a:ln/>
        </p:spPr>
        <p:txBody>
          <a:bodyPr wrap="none" lIns="0" tIns="0" rIns="0" bIns="0" rtlCol="0" anchor="t"/>
          <a:lstStyle/>
          <a:p>
            <a:pPr marL="0" indent="0" algn="l">
              <a:lnSpc>
                <a:spcPts val="2600"/>
              </a:lnSpc>
              <a:buNone/>
            </a:pPr>
            <a:r>
              <a:rPr lang="en-US" sz="2100" b="1" dirty="0">
                <a:solidFill>
                  <a:srgbClr val="272525"/>
                </a:solidFill>
                <a:latin typeface="Inter Bold" pitchFamily="34" charset="0"/>
                <a:ea typeface="Inter Bold" pitchFamily="34" charset="-122"/>
                <a:cs typeface="Inter Bold" pitchFamily="34" charset="-120"/>
              </a:rPr>
              <a:t>FID</a:t>
            </a:r>
            <a:endParaRPr lang="en-US" sz="2100" dirty="0"/>
          </a:p>
        </p:txBody>
      </p:sp>
      <p:sp>
        <p:nvSpPr>
          <p:cNvPr id="12" name="Text 7"/>
          <p:cNvSpPr/>
          <p:nvPr/>
        </p:nvSpPr>
        <p:spPr>
          <a:xfrm>
            <a:off x="1450300" y="6518553"/>
            <a:ext cx="4920258" cy="687705"/>
          </a:xfrm>
          <a:prstGeom prst="rect">
            <a:avLst/>
          </a:prstGeom>
          <a:noFill/>
          <a:ln/>
        </p:spPr>
        <p:txBody>
          <a:bodyPr wrap="square" lIns="0" tIns="0" rIns="0" bIns="0" rtlCol="0" anchor="t"/>
          <a:lstStyle/>
          <a:p>
            <a:pPr marL="0" indent="0" algn="l">
              <a:lnSpc>
                <a:spcPts val="2700"/>
              </a:lnSpc>
              <a:buNone/>
            </a:pPr>
            <a:r>
              <a:rPr lang="en-US" sz="1650" dirty="0">
                <a:solidFill>
                  <a:srgbClr val="272525"/>
                </a:solidFill>
                <a:latin typeface="Inter" pitchFamily="34" charset="0"/>
                <a:ea typeface="Inter" pitchFamily="34" charset="-122"/>
                <a:cs typeface="Inter" pitchFamily="34" charset="-120"/>
              </a:rPr>
              <a:t>Fréchet Inception Distance quantifies perceptual realism of generated images</a:t>
            </a:r>
            <a:endParaRPr lang="en-US" sz="1650" dirty="0"/>
          </a:p>
        </p:txBody>
      </p:sp>
      <p:sp>
        <p:nvSpPr>
          <p:cNvPr id="13" name="Text 8"/>
          <p:cNvSpPr/>
          <p:nvPr/>
        </p:nvSpPr>
        <p:spPr>
          <a:xfrm>
            <a:off x="6902291" y="1833205"/>
            <a:ext cx="2686050" cy="335756"/>
          </a:xfrm>
          <a:prstGeom prst="rect">
            <a:avLst/>
          </a:prstGeom>
          <a:noFill/>
          <a:ln/>
        </p:spPr>
        <p:txBody>
          <a:bodyPr wrap="none" lIns="0" tIns="0" rIns="0" bIns="0" rtlCol="0" anchor="t"/>
          <a:lstStyle/>
          <a:p>
            <a:pPr marL="0" indent="0" algn="l">
              <a:lnSpc>
                <a:spcPts val="2600"/>
              </a:lnSpc>
              <a:buNone/>
            </a:pPr>
            <a:endParaRPr lang="en-US" sz="2100" dirty="0"/>
          </a:p>
        </p:txBody>
      </p:sp>
      <p:pic>
        <p:nvPicPr>
          <p:cNvPr id="30" name="Picture 29">
            <a:extLst>
              <a:ext uri="{FF2B5EF4-FFF2-40B4-BE49-F238E27FC236}">
                <a16:creationId xmlns:a16="http://schemas.microsoft.com/office/drawing/2014/main" id="{1B87F7D5-3972-69EA-8E52-217B7F9BC911}"/>
              </a:ext>
            </a:extLst>
          </p:cNvPr>
          <p:cNvPicPr>
            <a:picLocks noChangeAspect="1"/>
          </p:cNvPicPr>
          <p:nvPr/>
        </p:nvPicPr>
        <p:blipFill>
          <a:blip r:embed="rId9"/>
          <a:stretch>
            <a:fillRect/>
          </a:stretch>
        </p:blipFill>
        <p:spPr>
          <a:xfrm>
            <a:off x="12546597" y="7742753"/>
            <a:ext cx="2072820" cy="403895"/>
          </a:xfrm>
          <a:prstGeom prst="rect">
            <a:avLst/>
          </a:prstGeom>
        </p:spPr>
      </p:pic>
      <p:pic>
        <p:nvPicPr>
          <p:cNvPr id="35" name="Picture 34">
            <a:extLst>
              <a:ext uri="{FF2B5EF4-FFF2-40B4-BE49-F238E27FC236}">
                <a16:creationId xmlns:a16="http://schemas.microsoft.com/office/drawing/2014/main" id="{104F8BC8-41D0-889E-FFA1-F444A3181AA2}"/>
              </a:ext>
            </a:extLst>
          </p:cNvPr>
          <p:cNvPicPr>
            <a:picLocks noChangeAspect="1"/>
          </p:cNvPicPr>
          <p:nvPr/>
        </p:nvPicPr>
        <p:blipFill>
          <a:blip r:embed="rId10"/>
          <a:stretch>
            <a:fillRect/>
          </a:stretch>
        </p:blipFill>
        <p:spPr>
          <a:xfrm>
            <a:off x="6902291" y="2840355"/>
            <a:ext cx="3328605" cy="927975"/>
          </a:xfrm>
          <a:prstGeom prst="rect">
            <a:avLst/>
          </a:prstGeom>
        </p:spPr>
      </p:pic>
      <p:pic>
        <p:nvPicPr>
          <p:cNvPr id="37" name="Picture 36">
            <a:extLst>
              <a:ext uri="{FF2B5EF4-FFF2-40B4-BE49-F238E27FC236}">
                <a16:creationId xmlns:a16="http://schemas.microsoft.com/office/drawing/2014/main" id="{734DC4C7-1D9A-7D9F-B444-4EEA94324BCC}"/>
              </a:ext>
            </a:extLst>
          </p:cNvPr>
          <p:cNvPicPr>
            <a:picLocks noChangeAspect="1"/>
          </p:cNvPicPr>
          <p:nvPr/>
        </p:nvPicPr>
        <p:blipFill>
          <a:blip r:embed="rId11"/>
          <a:stretch>
            <a:fillRect/>
          </a:stretch>
        </p:blipFill>
        <p:spPr>
          <a:xfrm>
            <a:off x="6381709" y="4506874"/>
            <a:ext cx="4175656" cy="823932"/>
          </a:xfrm>
          <a:prstGeom prst="rect">
            <a:avLst/>
          </a:prstGeom>
        </p:spPr>
      </p:pic>
      <p:pic>
        <p:nvPicPr>
          <p:cNvPr id="39" name="Picture 38">
            <a:extLst>
              <a:ext uri="{FF2B5EF4-FFF2-40B4-BE49-F238E27FC236}">
                <a16:creationId xmlns:a16="http://schemas.microsoft.com/office/drawing/2014/main" id="{D0CA08D2-90BA-25DB-FB57-210BB1735411}"/>
              </a:ext>
            </a:extLst>
          </p:cNvPr>
          <p:cNvPicPr>
            <a:picLocks noChangeAspect="1"/>
          </p:cNvPicPr>
          <p:nvPr/>
        </p:nvPicPr>
        <p:blipFill>
          <a:blip r:embed="rId12"/>
          <a:stretch>
            <a:fillRect/>
          </a:stretch>
        </p:blipFill>
        <p:spPr>
          <a:xfrm>
            <a:off x="10614759" y="2932610"/>
            <a:ext cx="3863675" cy="548688"/>
          </a:xfrm>
          <a:prstGeom prst="rect">
            <a:avLst/>
          </a:prstGeom>
        </p:spPr>
      </p:pic>
      <p:sp>
        <p:nvSpPr>
          <p:cNvPr id="40" name="TextBox 39">
            <a:extLst>
              <a:ext uri="{FF2B5EF4-FFF2-40B4-BE49-F238E27FC236}">
                <a16:creationId xmlns:a16="http://schemas.microsoft.com/office/drawing/2014/main" id="{D1D7E829-7F8B-067D-D898-442E4F0E0C75}"/>
              </a:ext>
            </a:extLst>
          </p:cNvPr>
          <p:cNvSpPr txBox="1"/>
          <p:nvPr/>
        </p:nvSpPr>
        <p:spPr>
          <a:xfrm>
            <a:off x="10202670" y="2850356"/>
            <a:ext cx="434897" cy="630942"/>
          </a:xfrm>
          <a:prstGeom prst="rect">
            <a:avLst/>
          </a:prstGeom>
          <a:noFill/>
        </p:spPr>
        <p:txBody>
          <a:bodyPr wrap="square" rtlCol="0">
            <a:spAutoFit/>
          </a:bodyPr>
          <a:lstStyle/>
          <a:p>
            <a:r>
              <a:rPr lang="en-IN" sz="3500" dirty="0"/>
              <a:t>|</a:t>
            </a:r>
          </a:p>
        </p:txBody>
      </p:sp>
      <p:sp>
        <p:nvSpPr>
          <p:cNvPr id="41" name="TextBox 40">
            <a:extLst>
              <a:ext uri="{FF2B5EF4-FFF2-40B4-BE49-F238E27FC236}">
                <a16:creationId xmlns:a16="http://schemas.microsoft.com/office/drawing/2014/main" id="{ADF914AE-32AB-EE05-AC4F-F453CCAFD23F}"/>
              </a:ext>
            </a:extLst>
          </p:cNvPr>
          <p:cNvSpPr txBox="1"/>
          <p:nvPr/>
        </p:nvSpPr>
        <p:spPr>
          <a:xfrm>
            <a:off x="10374817" y="4489698"/>
            <a:ext cx="434897" cy="630942"/>
          </a:xfrm>
          <a:prstGeom prst="rect">
            <a:avLst/>
          </a:prstGeom>
          <a:noFill/>
        </p:spPr>
        <p:txBody>
          <a:bodyPr wrap="square" rtlCol="0">
            <a:spAutoFit/>
          </a:bodyPr>
          <a:lstStyle/>
          <a:p>
            <a:r>
              <a:rPr lang="en-IN" sz="3500" dirty="0"/>
              <a:t>|</a:t>
            </a:r>
          </a:p>
        </p:txBody>
      </p:sp>
      <p:pic>
        <p:nvPicPr>
          <p:cNvPr id="43" name="Picture 42">
            <a:extLst>
              <a:ext uri="{FF2B5EF4-FFF2-40B4-BE49-F238E27FC236}">
                <a16:creationId xmlns:a16="http://schemas.microsoft.com/office/drawing/2014/main" id="{A7E1C6DD-E01A-A80D-B1FC-E63934382A80}"/>
              </a:ext>
            </a:extLst>
          </p:cNvPr>
          <p:cNvPicPr>
            <a:picLocks noChangeAspect="1"/>
          </p:cNvPicPr>
          <p:nvPr/>
        </p:nvPicPr>
        <p:blipFill>
          <a:blip r:embed="rId13"/>
          <a:srcRect l="-1943" t="-308" r="90151" b="308"/>
          <a:stretch>
            <a:fillRect/>
          </a:stretch>
        </p:blipFill>
        <p:spPr>
          <a:xfrm>
            <a:off x="10637567" y="3935061"/>
            <a:ext cx="647013" cy="2225233"/>
          </a:xfrm>
          <a:prstGeom prst="rect">
            <a:avLst/>
          </a:prstGeom>
        </p:spPr>
      </p:pic>
      <p:pic>
        <p:nvPicPr>
          <p:cNvPr id="45" name="Picture 44">
            <a:extLst>
              <a:ext uri="{FF2B5EF4-FFF2-40B4-BE49-F238E27FC236}">
                <a16:creationId xmlns:a16="http://schemas.microsoft.com/office/drawing/2014/main" id="{2B76D90B-032F-E21C-C00E-95FA073EA687}"/>
              </a:ext>
            </a:extLst>
          </p:cNvPr>
          <p:cNvPicPr>
            <a:picLocks noChangeAspect="1"/>
          </p:cNvPicPr>
          <p:nvPr/>
        </p:nvPicPr>
        <p:blipFill>
          <a:blip r:embed="rId13"/>
          <a:srcRect l="56702"/>
          <a:stretch>
            <a:fillRect/>
          </a:stretch>
        </p:blipFill>
        <p:spPr>
          <a:xfrm>
            <a:off x="11364782" y="3939231"/>
            <a:ext cx="2375724" cy="2225233"/>
          </a:xfrm>
          <a:prstGeom prst="rect">
            <a:avLst/>
          </a:prstGeom>
        </p:spPr>
      </p:pic>
      <p:pic>
        <p:nvPicPr>
          <p:cNvPr id="49" name="Picture 48">
            <a:extLst>
              <a:ext uri="{FF2B5EF4-FFF2-40B4-BE49-F238E27FC236}">
                <a16:creationId xmlns:a16="http://schemas.microsoft.com/office/drawing/2014/main" id="{4316AB5A-FB5A-F865-441A-A13246D917C3}"/>
              </a:ext>
            </a:extLst>
          </p:cNvPr>
          <p:cNvPicPr>
            <a:picLocks noChangeAspect="1"/>
          </p:cNvPicPr>
          <p:nvPr/>
        </p:nvPicPr>
        <p:blipFill>
          <a:blip r:embed="rId14"/>
          <a:stretch>
            <a:fillRect/>
          </a:stretch>
        </p:blipFill>
        <p:spPr>
          <a:xfrm>
            <a:off x="4135789" y="5950111"/>
            <a:ext cx="4267570" cy="579170"/>
          </a:xfrm>
          <a:prstGeom prst="rect">
            <a:avLst/>
          </a:prstGeom>
        </p:spPr>
      </p:pic>
      <p:pic>
        <p:nvPicPr>
          <p:cNvPr id="51" name="Picture 50">
            <a:extLst>
              <a:ext uri="{FF2B5EF4-FFF2-40B4-BE49-F238E27FC236}">
                <a16:creationId xmlns:a16="http://schemas.microsoft.com/office/drawing/2014/main" id="{0FF3410C-FCCA-BD60-B589-779CB2A6DAFB}"/>
              </a:ext>
            </a:extLst>
          </p:cNvPr>
          <p:cNvPicPr>
            <a:picLocks noChangeAspect="1"/>
          </p:cNvPicPr>
          <p:nvPr/>
        </p:nvPicPr>
        <p:blipFill>
          <a:blip r:embed="rId15"/>
          <a:srcRect r="86493"/>
          <a:stretch>
            <a:fillRect/>
          </a:stretch>
        </p:blipFill>
        <p:spPr>
          <a:xfrm>
            <a:off x="9324651" y="6441079"/>
            <a:ext cx="842001" cy="1348857"/>
          </a:xfrm>
          <a:prstGeom prst="rect">
            <a:avLst/>
          </a:prstGeom>
        </p:spPr>
      </p:pic>
      <p:pic>
        <p:nvPicPr>
          <p:cNvPr id="53" name="Picture 52">
            <a:extLst>
              <a:ext uri="{FF2B5EF4-FFF2-40B4-BE49-F238E27FC236}">
                <a16:creationId xmlns:a16="http://schemas.microsoft.com/office/drawing/2014/main" id="{555761C3-C85D-4B68-0652-6C197A78EC1B}"/>
              </a:ext>
            </a:extLst>
          </p:cNvPr>
          <p:cNvPicPr>
            <a:picLocks noChangeAspect="1"/>
          </p:cNvPicPr>
          <p:nvPr/>
        </p:nvPicPr>
        <p:blipFill>
          <a:blip r:embed="rId15"/>
          <a:srcRect l="41004"/>
          <a:stretch>
            <a:fillRect/>
          </a:stretch>
        </p:blipFill>
        <p:spPr>
          <a:xfrm>
            <a:off x="9929562" y="6494265"/>
            <a:ext cx="3677629" cy="134885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71552-B480-3C0B-9F70-79A61A86F754}"/>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195E4FA7-7C5F-F22E-1DE7-B9804A937E96}"/>
              </a:ext>
            </a:extLst>
          </p:cNvPr>
          <p:cNvPicPr>
            <a:picLocks noChangeAspect="1"/>
          </p:cNvPicPr>
          <p:nvPr/>
        </p:nvPicPr>
        <p:blipFill>
          <a:blip r:embed="rId3"/>
          <a:stretch>
            <a:fillRect/>
          </a:stretch>
        </p:blipFill>
        <p:spPr>
          <a:xfrm>
            <a:off x="10652415" y="7185570"/>
            <a:ext cx="3977985" cy="1044030"/>
          </a:xfrm>
          <a:prstGeom prst="rect">
            <a:avLst/>
          </a:prstGeom>
        </p:spPr>
      </p:pic>
      <p:pic>
        <p:nvPicPr>
          <p:cNvPr id="36" name="Picture 35">
            <a:extLst>
              <a:ext uri="{FF2B5EF4-FFF2-40B4-BE49-F238E27FC236}">
                <a16:creationId xmlns:a16="http://schemas.microsoft.com/office/drawing/2014/main" id="{1D7518DC-5C42-B1E3-5B21-BA00894A98B5}"/>
              </a:ext>
            </a:extLst>
          </p:cNvPr>
          <p:cNvPicPr>
            <a:picLocks noChangeAspect="1"/>
          </p:cNvPicPr>
          <p:nvPr/>
        </p:nvPicPr>
        <p:blipFill>
          <a:blip r:embed="rId4"/>
          <a:srcRect r="50000"/>
          <a:stretch>
            <a:fillRect/>
          </a:stretch>
        </p:blipFill>
        <p:spPr>
          <a:xfrm>
            <a:off x="419047" y="263101"/>
            <a:ext cx="5201168" cy="3939298"/>
          </a:xfrm>
          <a:prstGeom prst="rect">
            <a:avLst/>
          </a:prstGeom>
        </p:spPr>
      </p:pic>
      <p:pic>
        <p:nvPicPr>
          <p:cNvPr id="38" name="Picture 37">
            <a:extLst>
              <a:ext uri="{FF2B5EF4-FFF2-40B4-BE49-F238E27FC236}">
                <a16:creationId xmlns:a16="http://schemas.microsoft.com/office/drawing/2014/main" id="{0FAAB860-D068-0DF2-5AFF-5CEC06ABDC94}"/>
              </a:ext>
            </a:extLst>
          </p:cNvPr>
          <p:cNvPicPr>
            <a:picLocks noChangeAspect="1"/>
          </p:cNvPicPr>
          <p:nvPr/>
        </p:nvPicPr>
        <p:blipFill>
          <a:blip r:embed="rId4"/>
          <a:srcRect l="49469"/>
          <a:stretch>
            <a:fillRect/>
          </a:stretch>
        </p:blipFill>
        <p:spPr>
          <a:xfrm>
            <a:off x="8452625" y="289521"/>
            <a:ext cx="5256403" cy="3939298"/>
          </a:xfrm>
          <a:prstGeom prst="rect">
            <a:avLst/>
          </a:prstGeom>
        </p:spPr>
      </p:pic>
      <p:pic>
        <p:nvPicPr>
          <p:cNvPr id="40" name="Picture 39">
            <a:extLst>
              <a:ext uri="{FF2B5EF4-FFF2-40B4-BE49-F238E27FC236}">
                <a16:creationId xmlns:a16="http://schemas.microsoft.com/office/drawing/2014/main" id="{0EEC87CD-C2E0-B0B5-7E85-71FBAEC15076}"/>
              </a:ext>
            </a:extLst>
          </p:cNvPr>
          <p:cNvPicPr>
            <a:picLocks noChangeAspect="1"/>
          </p:cNvPicPr>
          <p:nvPr/>
        </p:nvPicPr>
        <p:blipFill>
          <a:blip r:embed="rId4"/>
          <a:srcRect r="50000"/>
          <a:stretch>
            <a:fillRect/>
          </a:stretch>
        </p:blipFill>
        <p:spPr>
          <a:xfrm>
            <a:off x="4530130" y="4202399"/>
            <a:ext cx="5201168" cy="3939298"/>
          </a:xfrm>
          <a:prstGeom prst="rect">
            <a:avLst/>
          </a:prstGeom>
        </p:spPr>
      </p:pic>
      <p:pic>
        <p:nvPicPr>
          <p:cNvPr id="42" name="Picture 41">
            <a:extLst>
              <a:ext uri="{FF2B5EF4-FFF2-40B4-BE49-F238E27FC236}">
                <a16:creationId xmlns:a16="http://schemas.microsoft.com/office/drawing/2014/main" id="{119CC37D-DC59-F96E-B8F0-C6709F124815}"/>
              </a:ext>
            </a:extLst>
          </p:cNvPr>
          <p:cNvPicPr>
            <a:picLocks noChangeAspect="1"/>
          </p:cNvPicPr>
          <p:nvPr/>
        </p:nvPicPr>
        <p:blipFill>
          <a:blip r:embed="rId5"/>
          <a:stretch>
            <a:fillRect/>
          </a:stretch>
        </p:blipFill>
        <p:spPr>
          <a:xfrm>
            <a:off x="5160483" y="5233625"/>
            <a:ext cx="3536911" cy="408891"/>
          </a:xfrm>
          <a:prstGeom prst="rect">
            <a:avLst/>
          </a:prstGeom>
        </p:spPr>
      </p:pic>
      <p:pic>
        <p:nvPicPr>
          <p:cNvPr id="43" name="Picture 42">
            <a:extLst>
              <a:ext uri="{FF2B5EF4-FFF2-40B4-BE49-F238E27FC236}">
                <a16:creationId xmlns:a16="http://schemas.microsoft.com/office/drawing/2014/main" id="{F7D9F5BE-5F5F-9816-4B3B-E8EFA3940586}"/>
              </a:ext>
            </a:extLst>
          </p:cNvPr>
          <p:cNvPicPr>
            <a:picLocks noChangeAspect="1"/>
          </p:cNvPicPr>
          <p:nvPr/>
        </p:nvPicPr>
        <p:blipFill>
          <a:blip r:embed="rId5"/>
          <a:stretch>
            <a:fillRect/>
          </a:stretch>
        </p:blipFill>
        <p:spPr>
          <a:xfrm>
            <a:off x="5160482" y="5967602"/>
            <a:ext cx="3536911" cy="408891"/>
          </a:xfrm>
          <a:prstGeom prst="rect">
            <a:avLst/>
          </a:prstGeom>
        </p:spPr>
      </p:pic>
      <p:pic>
        <p:nvPicPr>
          <p:cNvPr id="44" name="Picture 43">
            <a:extLst>
              <a:ext uri="{FF2B5EF4-FFF2-40B4-BE49-F238E27FC236}">
                <a16:creationId xmlns:a16="http://schemas.microsoft.com/office/drawing/2014/main" id="{052D8276-CCAE-57A1-9C4E-DB86B3DB3DCE}"/>
              </a:ext>
            </a:extLst>
          </p:cNvPr>
          <p:cNvPicPr>
            <a:picLocks noChangeAspect="1"/>
          </p:cNvPicPr>
          <p:nvPr/>
        </p:nvPicPr>
        <p:blipFill>
          <a:blip r:embed="rId5"/>
          <a:stretch>
            <a:fillRect/>
          </a:stretch>
        </p:blipFill>
        <p:spPr>
          <a:xfrm>
            <a:off x="5160483" y="6528893"/>
            <a:ext cx="3536911" cy="408891"/>
          </a:xfrm>
          <a:prstGeom prst="rect">
            <a:avLst/>
          </a:prstGeom>
        </p:spPr>
      </p:pic>
      <p:pic>
        <p:nvPicPr>
          <p:cNvPr id="45" name="Picture 44">
            <a:extLst>
              <a:ext uri="{FF2B5EF4-FFF2-40B4-BE49-F238E27FC236}">
                <a16:creationId xmlns:a16="http://schemas.microsoft.com/office/drawing/2014/main" id="{4A7FE7EE-4049-301F-34D2-46A19D1072AF}"/>
              </a:ext>
            </a:extLst>
          </p:cNvPr>
          <p:cNvPicPr>
            <a:picLocks noChangeAspect="1"/>
          </p:cNvPicPr>
          <p:nvPr/>
        </p:nvPicPr>
        <p:blipFill>
          <a:blip r:embed="rId5"/>
          <a:stretch>
            <a:fillRect/>
          </a:stretch>
        </p:blipFill>
        <p:spPr>
          <a:xfrm>
            <a:off x="5160483" y="7231900"/>
            <a:ext cx="3536911" cy="408891"/>
          </a:xfrm>
          <a:prstGeom prst="rect">
            <a:avLst/>
          </a:prstGeom>
        </p:spPr>
      </p:pic>
      <p:pic>
        <p:nvPicPr>
          <p:cNvPr id="47" name="Picture 46">
            <a:extLst>
              <a:ext uri="{FF2B5EF4-FFF2-40B4-BE49-F238E27FC236}">
                <a16:creationId xmlns:a16="http://schemas.microsoft.com/office/drawing/2014/main" id="{EF635D55-6B1F-97B8-8223-4B9E8EF0CDC8}"/>
              </a:ext>
            </a:extLst>
          </p:cNvPr>
          <p:cNvPicPr>
            <a:picLocks noChangeAspect="1"/>
          </p:cNvPicPr>
          <p:nvPr/>
        </p:nvPicPr>
        <p:blipFill>
          <a:blip r:embed="rId6"/>
          <a:stretch>
            <a:fillRect/>
          </a:stretch>
        </p:blipFill>
        <p:spPr>
          <a:xfrm>
            <a:off x="5901163" y="4443679"/>
            <a:ext cx="2038505" cy="464860"/>
          </a:xfrm>
          <a:prstGeom prst="rect">
            <a:avLst/>
          </a:prstGeom>
        </p:spPr>
      </p:pic>
      <p:pic>
        <p:nvPicPr>
          <p:cNvPr id="49" name="Picture 48">
            <a:extLst>
              <a:ext uri="{FF2B5EF4-FFF2-40B4-BE49-F238E27FC236}">
                <a16:creationId xmlns:a16="http://schemas.microsoft.com/office/drawing/2014/main" id="{45956A29-EEFE-CF6D-DAFE-8F33A9F21A0F}"/>
              </a:ext>
            </a:extLst>
          </p:cNvPr>
          <p:cNvPicPr>
            <a:picLocks noChangeAspect="1"/>
          </p:cNvPicPr>
          <p:nvPr/>
        </p:nvPicPr>
        <p:blipFill>
          <a:blip r:embed="rId6"/>
          <a:stretch>
            <a:fillRect/>
          </a:stretch>
        </p:blipFill>
        <p:spPr>
          <a:xfrm>
            <a:off x="8058214" y="4500289"/>
            <a:ext cx="1486029" cy="580936"/>
          </a:xfrm>
          <a:prstGeom prst="rect">
            <a:avLst/>
          </a:prstGeom>
        </p:spPr>
      </p:pic>
      <p:sp>
        <p:nvSpPr>
          <p:cNvPr id="50" name="TextBox 49">
            <a:extLst>
              <a:ext uri="{FF2B5EF4-FFF2-40B4-BE49-F238E27FC236}">
                <a16:creationId xmlns:a16="http://schemas.microsoft.com/office/drawing/2014/main" id="{B925A576-1639-5ACD-3DCD-6B740B87AA4E}"/>
              </a:ext>
            </a:extLst>
          </p:cNvPr>
          <p:cNvSpPr txBox="1"/>
          <p:nvPr/>
        </p:nvSpPr>
        <p:spPr>
          <a:xfrm>
            <a:off x="6225661" y="4581953"/>
            <a:ext cx="1832553" cy="430887"/>
          </a:xfrm>
          <a:prstGeom prst="rect">
            <a:avLst/>
          </a:prstGeom>
          <a:noFill/>
        </p:spPr>
        <p:txBody>
          <a:bodyPr wrap="none" rtlCol="0">
            <a:spAutoFit/>
          </a:bodyPr>
          <a:lstStyle/>
          <a:p>
            <a:r>
              <a:rPr lang="en-IN" sz="2200" b="1" dirty="0">
                <a:latin typeface="Inter" panose="020B0604020202020204" charset="0"/>
                <a:ea typeface="Inter" panose="020B0604020202020204" charset="0"/>
              </a:rPr>
              <a:t>Applications</a:t>
            </a:r>
          </a:p>
        </p:txBody>
      </p:sp>
      <p:sp>
        <p:nvSpPr>
          <p:cNvPr id="51" name="TextBox 50">
            <a:extLst>
              <a:ext uri="{FF2B5EF4-FFF2-40B4-BE49-F238E27FC236}">
                <a16:creationId xmlns:a16="http://schemas.microsoft.com/office/drawing/2014/main" id="{2627077B-CA69-FA7F-B8A7-8464FF9282C8}"/>
              </a:ext>
            </a:extLst>
          </p:cNvPr>
          <p:cNvSpPr txBox="1"/>
          <p:nvPr/>
        </p:nvSpPr>
        <p:spPr>
          <a:xfrm>
            <a:off x="5160483" y="5288093"/>
            <a:ext cx="3147176" cy="369332"/>
          </a:xfrm>
          <a:prstGeom prst="rect">
            <a:avLst/>
          </a:prstGeom>
          <a:noFill/>
        </p:spPr>
        <p:txBody>
          <a:bodyPr wrap="square" rtlCol="0">
            <a:spAutoFit/>
          </a:bodyPr>
          <a:lstStyle/>
          <a:p>
            <a:r>
              <a:rPr lang="en-IN"/>
              <a:t>MRI Image Super-Resolution</a:t>
            </a:r>
            <a:endParaRPr lang="en-IN" dirty="0"/>
          </a:p>
        </p:txBody>
      </p:sp>
      <p:sp>
        <p:nvSpPr>
          <p:cNvPr id="52" name="TextBox 51">
            <a:extLst>
              <a:ext uri="{FF2B5EF4-FFF2-40B4-BE49-F238E27FC236}">
                <a16:creationId xmlns:a16="http://schemas.microsoft.com/office/drawing/2014/main" id="{231F7429-57C3-6954-91C4-50BE44520BDA}"/>
              </a:ext>
            </a:extLst>
          </p:cNvPr>
          <p:cNvSpPr txBox="1"/>
          <p:nvPr/>
        </p:nvSpPr>
        <p:spPr>
          <a:xfrm>
            <a:off x="5157439" y="5853624"/>
            <a:ext cx="4315522" cy="646331"/>
          </a:xfrm>
          <a:prstGeom prst="rect">
            <a:avLst/>
          </a:prstGeom>
          <a:noFill/>
        </p:spPr>
        <p:txBody>
          <a:bodyPr wrap="square" rtlCol="0">
            <a:spAutoFit/>
          </a:bodyPr>
          <a:lstStyle/>
          <a:p>
            <a:r>
              <a:rPr lang="en-US"/>
              <a:t>Tumor Region Restoration and Boundary Enhancement</a:t>
            </a:r>
            <a:endParaRPr lang="en-IN" dirty="0"/>
          </a:p>
        </p:txBody>
      </p:sp>
      <p:sp>
        <p:nvSpPr>
          <p:cNvPr id="53" name="TextBox 52">
            <a:extLst>
              <a:ext uri="{FF2B5EF4-FFF2-40B4-BE49-F238E27FC236}">
                <a16:creationId xmlns:a16="http://schemas.microsoft.com/office/drawing/2014/main" id="{8A93E694-C015-09B2-E370-0EC459E5E651}"/>
              </a:ext>
            </a:extLst>
          </p:cNvPr>
          <p:cNvSpPr txBox="1"/>
          <p:nvPr/>
        </p:nvSpPr>
        <p:spPr>
          <a:xfrm>
            <a:off x="5157439" y="6563111"/>
            <a:ext cx="4315522" cy="646331"/>
          </a:xfrm>
          <a:prstGeom prst="rect">
            <a:avLst/>
          </a:prstGeom>
          <a:noFill/>
        </p:spPr>
        <p:txBody>
          <a:bodyPr wrap="square" rtlCol="0">
            <a:spAutoFit/>
          </a:bodyPr>
          <a:lstStyle/>
          <a:p>
            <a:r>
              <a:rPr lang="en-US" dirty="0"/>
              <a:t>MRI to CT Image Translation </a:t>
            </a:r>
          </a:p>
          <a:p>
            <a:r>
              <a:rPr lang="en-US" dirty="0"/>
              <a:t>(Cross-Modality Conversion)</a:t>
            </a:r>
            <a:endParaRPr lang="en-IN" dirty="0"/>
          </a:p>
        </p:txBody>
      </p:sp>
      <p:sp>
        <p:nvSpPr>
          <p:cNvPr id="54" name="TextBox 53">
            <a:extLst>
              <a:ext uri="{FF2B5EF4-FFF2-40B4-BE49-F238E27FC236}">
                <a16:creationId xmlns:a16="http://schemas.microsoft.com/office/drawing/2014/main" id="{5EA6225C-814C-B621-2135-1547529CF998}"/>
              </a:ext>
            </a:extLst>
          </p:cNvPr>
          <p:cNvSpPr txBox="1"/>
          <p:nvPr/>
        </p:nvSpPr>
        <p:spPr>
          <a:xfrm>
            <a:off x="5160483" y="7209442"/>
            <a:ext cx="4061577" cy="646331"/>
          </a:xfrm>
          <a:prstGeom prst="rect">
            <a:avLst/>
          </a:prstGeom>
          <a:noFill/>
        </p:spPr>
        <p:txBody>
          <a:bodyPr wrap="square" rtlCol="0">
            <a:spAutoFit/>
          </a:bodyPr>
          <a:lstStyle/>
          <a:p>
            <a:r>
              <a:rPr lang="en-IN" dirty="0"/>
              <a:t>Synthetic Medical Image Generation for Data Augmentation</a:t>
            </a:r>
          </a:p>
        </p:txBody>
      </p:sp>
      <p:pic>
        <p:nvPicPr>
          <p:cNvPr id="56" name="Picture 55">
            <a:extLst>
              <a:ext uri="{FF2B5EF4-FFF2-40B4-BE49-F238E27FC236}">
                <a16:creationId xmlns:a16="http://schemas.microsoft.com/office/drawing/2014/main" id="{2BE6E729-2A26-BFDC-41D6-5C0401A4D3C8}"/>
              </a:ext>
            </a:extLst>
          </p:cNvPr>
          <p:cNvPicPr>
            <a:picLocks noChangeAspect="1"/>
          </p:cNvPicPr>
          <p:nvPr/>
        </p:nvPicPr>
        <p:blipFill>
          <a:blip r:embed="rId7"/>
          <a:stretch>
            <a:fillRect/>
          </a:stretch>
        </p:blipFill>
        <p:spPr>
          <a:xfrm>
            <a:off x="8692329" y="4500289"/>
            <a:ext cx="780632" cy="580936"/>
          </a:xfrm>
          <a:prstGeom prst="rect">
            <a:avLst/>
          </a:prstGeom>
        </p:spPr>
      </p:pic>
      <p:pic>
        <p:nvPicPr>
          <p:cNvPr id="58" name="Picture 57">
            <a:extLst>
              <a:ext uri="{FF2B5EF4-FFF2-40B4-BE49-F238E27FC236}">
                <a16:creationId xmlns:a16="http://schemas.microsoft.com/office/drawing/2014/main" id="{0A441C8A-D341-D31A-276D-9B6AE65286AE}"/>
              </a:ext>
            </a:extLst>
          </p:cNvPr>
          <p:cNvPicPr>
            <a:picLocks noChangeAspect="1"/>
          </p:cNvPicPr>
          <p:nvPr/>
        </p:nvPicPr>
        <p:blipFill>
          <a:blip r:embed="rId8"/>
          <a:stretch>
            <a:fillRect/>
          </a:stretch>
        </p:blipFill>
        <p:spPr>
          <a:xfrm>
            <a:off x="12712390" y="582603"/>
            <a:ext cx="629784" cy="574539"/>
          </a:xfrm>
          <a:prstGeom prst="rect">
            <a:avLst/>
          </a:prstGeom>
        </p:spPr>
      </p:pic>
      <p:pic>
        <p:nvPicPr>
          <p:cNvPr id="60" name="Picture 59">
            <a:extLst>
              <a:ext uri="{FF2B5EF4-FFF2-40B4-BE49-F238E27FC236}">
                <a16:creationId xmlns:a16="http://schemas.microsoft.com/office/drawing/2014/main" id="{6E4AD1E6-F675-99A7-A9A4-4663492294B5}"/>
              </a:ext>
            </a:extLst>
          </p:cNvPr>
          <p:cNvPicPr>
            <a:picLocks noChangeAspect="1"/>
          </p:cNvPicPr>
          <p:nvPr/>
        </p:nvPicPr>
        <p:blipFill>
          <a:blip r:embed="rId9"/>
          <a:stretch>
            <a:fillRect/>
          </a:stretch>
        </p:blipFill>
        <p:spPr>
          <a:xfrm>
            <a:off x="8610876" y="582603"/>
            <a:ext cx="629783" cy="543265"/>
          </a:xfrm>
          <a:prstGeom prst="rect">
            <a:avLst/>
          </a:prstGeom>
        </p:spPr>
      </p:pic>
    </p:spTree>
    <p:extLst>
      <p:ext uri="{BB962C8B-B14F-4D97-AF65-F5344CB8AC3E}">
        <p14:creationId xmlns:p14="http://schemas.microsoft.com/office/powerpoint/2010/main" val="35734070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6EDCC2-9BC0-6CBB-6EBA-61B541B7F04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A245FF7-7549-3276-38AE-EBA2117E3A03}"/>
              </a:ext>
            </a:extLst>
          </p:cNvPr>
          <p:cNvSpPr/>
          <p:nvPr/>
        </p:nvSpPr>
        <p:spPr>
          <a:xfrm>
            <a:off x="751999" y="758904"/>
            <a:ext cx="8457843" cy="537210"/>
          </a:xfrm>
          <a:prstGeom prst="rect">
            <a:avLst/>
          </a:prstGeom>
          <a:noFill/>
          <a:ln/>
        </p:spPr>
        <p:txBody>
          <a:bodyPr wrap="none" lIns="0" tIns="0" rIns="0" bIns="0" rtlCol="0" anchor="t"/>
          <a:lstStyle/>
          <a:p>
            <a:pPr marL="0" indent="0" algn="l">
              <a:lnSpc>
                <a:spcPts val="4200"/>
              </a:lnSpc>
              <a:buNone/>
            </a:pPr>
            <a:r>
              <a:rPr lang="en-US" sz="3350" b="1" dirty="0">
                <a:solidFill>
                  <a:srgbClr val="000000"/>
                </a:solidFill>
                <a:latin typeface="Inter Bold" pitchFamily="34" charset="0"/>
                <a:ea typeface="Inter Bold" pitchFamily="34" charset="-122"/>
                <a:cs typeface="Inter Bold" pitchFamily="34" charset="-120"/>
              </a:rPr>
              <a:t>Benchmark Results</a:t>
            </a:r>
            <a:endParaRPr lang="en-US" sz="3350" dirty="0"/>
          </a:p>
        </p:txBody>
      </p:sp>
      <p:sp>
        <p:nvSpPr>
          <p:cNvPr id="13" name="Text 8">
            <a:extLst>
              <a:ext uri="{FF2B5EF4-FFF2-40B4-BE49-F238E27FC236}">
                <a16:creationId xmlns:a16="http://schemas.microsoft.com/office/drawing/2014/main" id="{BC375868-D322-923A-7401-3C20AB1B3C81}"/>
              </a:ext>
            </a:extLst>
          </p:cNvPr>
          <p:cNvSpPr/>
          <p:nvPr/>
        </p:nvSpPr>
        <p:spPr>
          <a:xfrm>
            <a:off x="6902291" y="1833205"/>
            <a:ext cx="2686050" cy="335756"/>
          </a:xfrm>
          <a:prstGeom prst="rect">
            <a:avLst/>
          </a:prstGeom>
          <a:noFill/>
          <a:ln/>
        </p:spPr>
        <p:txBody>
          <a:bodyPr wrap="none" lIns="0" tIns="0" rIns="0" bIns="0" rtlCol="0" anchor="t"/>
          <a:lstStyle/>
          <a:p>
            <a:pPr marL="0" indent="0" algn="l">
              <a:lnSpc>
                <a:spcPts val="2600"/>
              </a:lnSpc>
              <a:buNone/>
            </a:pPr>
            <a:r>
              <a:rPr lang="en-US" sz="2100" b="1" dirty="0">
                <a:solidFill>
                  <a:srgbClr val="000000"/>
                </a:solidFill>
                <a:latin typeface="Inter Bold" pitchFamily="34" charset="0"/>
                <a:ea typeface="Inter Bold" pitchFamily="34" charset="-122"/>
                <a:cs typeface="Inter Bold" pitchFamily="34" charset="-120"/>
              </a:rPr>
              <a:t>Landmark Studies</a:t>
            </a:r>
            <a:endParaRPr lang="en-US" sz="2100" dirty="0"/>
          </a:p>
        </p:txBody>
      </p:sp>
      <p:sp>
        <p:nvSpPr>
          <p:cNvPr id="14" name="Shape 9">
            <a:extLst>
              <a:ext uri="{FF2B5EF4-FFF2-40B4-BE49-F238E27FC236}">
                <a16:creationId xmlns:a16="http://schemas.microsoft.com/office/drawing/2014/main" id="{132846DF-10A6-608F-373C-F5E7ACD5482F}"/>
              </a:ext>
            </a:extLst>
          </p:cNvPr>
          <p:cNvSpPr/>
          <p:nvPr/>
        </p:nvSpPr>
        <p:spPr>
          <a:xfrm>
            <a:off x="6902291" y="2410658"/>
            <a:ext cx="6983611" cy="4818221"/>
          </a:xfrm>
          <a:prstGeom prst="roundRect">
            <a:avLst>
              <a:gd name="adj" fmla="val 1873"/>
            </a:avLst>
          </a:prstGeom>
          <a:noFill/>
          <a:ln w="7620">
            <a:solidFill>
              <a:srgbClr val="000000">
                <a:alpha val="8000"/>
              </a:srgbClr>
            </a:solidFill>
            <a:prstDash val="solid"/>
          </a:ln>
        </p:spPr>
      </p:sp>
      <p:sp>
        <p:nvSpPr>
          <p:cNvPr id="15" name="Shape 10">
            <a:extLst>
              <a:ext uri="{FF2B5EF4-FFF2-40B4-BE49-F238E27FC236}">
                <a16:creationId xmlns:a16="http://schemas.microsoft.com/office/drawing/2014/main" id="{34984847-C53D-98BB-F957-44A482D5BDC6}"/>
              </a:ext>
            </a:extLst>
          </p:cNvPr>
          <p:cNvSpPr/>
          <p:nvPr/>
        </p:nvSpPr>
        <p:spPr>
          <a:xfrm>
            <a:off x="6909911" y="2418278"/>
            <a:ext cx="6968371" cy="616744"/>
          </a:xfrm>
          <a:prstGeom prst="rect">
            <a:avLst/>
          </a:prstGeom>
          <a:solidFill>
            <a:srgbClr val="FFFFFF">
              <a:alpha val="4000"/>
            </a:srgbClr>
          </a:solidFill>
          <a:ln/>
        </p:spPr>
      </p:sp>
      <p:sp>
        <p:nvSpPr>
          <p:cNvPr id="16" name="Text 11">
            <a:extLst>
              <a:ext uri="{FF2B5EF4-FFF2-40B4-BE49-F238E27FC236}">
                <a16:creationId xmlns:a16="http://schemas.microsoft.com/office/drawing/2014/main" id="{A1560D3B-5858-21AB-4DA9-DA14AE2D0DA6}"/>
              </a:ext>
            </a:extLst>
          </p:cNvPr>
          <p:cNvSpPr/>
          <p:nvPr/>
        </p:nvSpPr>
        <p:spPr>
          <a:xfrm>
            <a:off x="7124819" y="2554724"/>
            <a:ext cx="3050738" cy="343853"/>
          </a:xfrm>
          <a:prstGeom prst="rect">
            <a:avLst/>
          </a:prstGeom>
          <a:noFill/>
          <a:ln/>
        </p:spPr>
        <p:txBody>
          <a:bodyPr wrap="none" lIns="0" tIns="0" rIns="0" bIns="0" rtlCol="0" anchor="t"/>
          <a:lstStyle/>
          <a:p>
            <a:pPr marL="0" indent="0" algn="l">
              <a:lnSpc>
                <a:spcPts val="2700"/>
              </a:lnSpc>
              <a:buNone/>
            </a:pPr>
            <a:r>
              <a:rPr lang="en-US" sz="1650" b="1" dirty="0">
                <a:solidFill>
                  <a:srgbClr val="272525"/>
                </a:solidFill>
                <a:latin typeface="Inter" pitchFamily="34" charset="0"/>
                <a:ea typeface="Inter" pitchFamily="34" charset="-122"/>
                <a:cs typeface="Inter" pitchFamily="34" charset="-120"/>
              </a:rPr>
              <a:t>Method</a:t>
            </a:r>
            <a:endParaRPr lang="en-US" sz="1650" dirty="0"/>
          </a:p>
        </p:txBody>
      </p:sp>
      <p:sp>
        <p:nvSpPr>
          <p:cNvPr id="17" name="Text 12">
            <a:extLst>
              <a:ext uri="{FF2B5EF4-FFF2-40B4-BE49-F238E27FC236}">
                <a16:creationId xmlns:a16="http://schemas.microsoft.com/office/drawing/2014/main" id="{2E0B8751-339E-1EB5-DC4E-0865361189A6}"/>
              </a:ext>
            </a:extLst>
          </p:cNvPr>
          <p:cNvSpPr/>
          <p:nvPr/>
        </p:nvSpPr>
        <p:spPr>
          <a:xfrm>
            <a:off x="10612755" y="2554724"/>
            <a:ext cx="3050738" cy="343853"/>
          </a:xfrm>
          <a:prstGeom prst="rect">
            <a:avLst/>
          </a:prstGeom>
          <a:noFill/>
          <a:ln/>
        </p:spPr>
        <p:txBody>
          <a:bodyPr wrap="none" lIns="0" tIns="0" rIns="0" bIns="0" rtlCol="0" anchor="t"/>
          <a:lstStyle/>
          <a:p>
            <a:pPr marL="0" indent="0" algn="l">
              <a:lnSpc>
                <a:spcPts val="2700"/>
              </a:lnSpc>
              <a:buNone/>
            </a:pPr>
            <a:r>
              <a:rPr lang="en-US" sz="1650" b="1" dirty="0">
                <a:solidFill>
                  <a:srgbClr val="272525"/>
                </a:solidFill>
                <a:latin typeface="Inter" pitchFamily="34" charset="0"/>
                <a:ea typeface="Inter" pitchFamily="34" charset="-122"/>
                <a:cs typeface="Inter" pitchFamily="34" charset="-120"/>
              </a:rPr>
              <a:t>Key Innovation</a:t>
            </a:r>
            <a:endParaRPr lang="en-US" sz="1650" dirty="0"/>
          </a:p>
        </p:txBody>
      </p:sp>
      <p:sp>
        <p:nvSpPr>
          <p:cNvPr id="18" name="Shape 13">
            <a:extLst>
              <a:ext uri="{FF2B5EF4-FFF2-40B4-BE49-F238E27FC236}">
                <a16:creationId xmlns:a16="http://schemas.microsoft.com/office/drawing/2014/main" id="{0C8BAD64-8970-39E1-A6FD-F30173778386}"/>
              </a:ext>
            </a:extLst>
          </p:cNvPr>
          <p:cNvSpPr/>
          <p:nvPr/>
        </p:nvSpPr>
        <p:spPr>
          <a:xfrm>
            <a:off x="6909911" y="3035022"/>
            <a:ext cx="6968371" cy="1304449"/>
          </a:xfrm>
          <a:prstGeom prst="rect">
            <a:avLst/>
          </a:prstGeom>
          <a:solidFill>
            <a:srgbClr val="000000">
              <a:alpha val="4000"/>
            </a:srgbClr>
          </a:solidFill>
          <a:ln/>
        </p:spPr>
      </p:sp>
      <p:sp>
        <p:nvSpPr>
          <p:cNvPr id="19" name="Text 14">
            <a:extLst>
              <a:ext uri="{FF2B5EF4-FFF2-40B4-BE49-F238E27FC236}">
                <a16:creationId xmlns:a16="http://schemas.microsoft.com/office/drawing/2014/main" id="{2824F53D-E3F8-B3CE-E551-6AC58345163E}"/>
              </a:ext>
            </a:extLst>
          </p:cNvPr>
          <p:cNvSpPr/>
          <p:nvPr/>
        </p:nvSpPr>
        <p:spPr>
          <a:xfrm>
            <a:off x="7124819" y="3171468"/>
            <a:ext cx="3050738" cy="343853"/>
          </a:xfrm>
          <a:prstGeom prst="rect">
            <a:avLst/>
          </a:prstGeom>
          <a:noFill/>
          <a:ln/>
        </p:spPr>
        <p:txBody>
          <a:bodyPr wrap="none" lIns="0" tIns="0" rIns="0" bIns="0" rtlCol="0" anchor="t"/>
          <a:lstStyle/>
          <a:p>
            <a:pPr marL="0" indent="0" algn="l">
              <a:lnSpc>
                <a:spcPts val="2700"/>
              </a:lnSpc>
              <a:buNone/>
            </a:pPr>
            <a:r>
              <a:rPr lang="en-US" sz="1650" dirty="0">
                <a:solidFill>
                  <a:srgbClr val="272525"/>
                </a:solidFill>
                <a:latin typeface="Inter" pitchFamily="34" charset="0"/>
                <a:ea typeface="Inter" pitchFamily="34" charset="-122"/>
                <a:cs typeface="Inter" pitchFamily="34" charset="-120"/>
              </a:rPr>
              <a:t>DCGAN (Radford)</a:t>
            </a:r>
            <a:endParaRPr lang="en-US" sz="1650" dirty="0"/>
          </a:p>
        </p:txBody>
      </p:sp>
      <p:sp>
        <p:nvSpPr>
          <p:cNvPr id="20" name="Text 15">
            <a:extLst>
              <a:ext uri="{FF2B5EF4-FFF2-40B4-BE49-F238E27FC236}">
                <a16:creationId xmlns:a16="http://schemas.microsoft.com/office/drawing/2014/main" id="{70E54FD4-5EF0-48AD-9FA4-C8B38C9D5B85}"/>
              </a:ext>
            </a:extLst>
          </p:cNvPr>
          <p:cNvSpPr/>
          <p:nvPr/>
        </p:nvSpPr>
        <p:spPr>
          <a:xfrm>
            <a:off x="10612755" y="3171468"/>
            <a:ext cx="3050738" cy="1031558"/>
          </a:xfrm>
          <a:prstGeom prst="rect">
            <a:avLst/>
          </a:prstGeom>
          <a:noFill/>
          <a:ln/>
        </p:spPr>
        <p:txBody>
          <a:bodyPr wrap="square" lIns="0" tIns="0" rIns="0" bIns="0" rtlCol="0" anchor="t"/>
          <a:lstStyle/>
          <a:p>
            <a:pPr marL="0" indent="0" algn="l">
              <a:lnSpc>
                <a:spcPts val="2700"/>
              </a:lnSpc>
              <a:buNone/>
            </a:pPr>
            <a:r>
              <a:rPr lang="en-US" sz="1650" dirty="0">
                <a:solidFill>
                  <a:srgbClr val="272525"/>
                </a:solidFill>
                <a:latin typeface="Inter" pitchFamily="34" charset="0"/>
                <a:ea typeface="Inter" pitchFamily="34" charset="-122"/>
                <a:cs typeface="Inter" pitchFamily="34" charset="-120"/>
              </a:rPr>
              <a:t>Convolution-based architecture preserving image structure</a:t>
            </a:r>
            <a:endParaRPr lang="en-US" sz="1650" dirty="0"/>
          </a:p>
        </p:txBody>
      </p:sp>
      <p:sp>
        <p:nvSpPr>
          <p:cNvPr id="21" name="Shape 16">
            <a:extLst>
              <a:ext uri="{FF2B5EF4-FFF2-40B4-BE49-F238E27FC236}">
                <a16:creationId xmlns:a16="http://schemas.microsoft.com/office/drawing/2014/main" id="{EF7E0AE4-3870-0F4A-5655-2B9FF381C4A9}"/>
              </a:ext>
            </a:extLst>
          </p:cNvPr>
          <p:cNvSpPr/>
          <p:nvPr/>
        </p:nvSpPr>
        <p:spPr>
          <a:xfrm>
            <a:off x="6909911" y="4339471"/>
            <a:ext cx="6968371" cy="960596"/>
          </a:xfrm>
          <a:prstGeom prst="rect">
            <a:avLst/>
          </a:prstGeom>
          <a:solidFill>
            <a:srgbClr val="FFFFFF">
              <a:alpha val="4000"/>
            </a:srgbClr>
          </a:solidFill>
          <a:ln/>
        </p:spPr>
      </p:sp>
      <p:sp>
        <p:nvSpPr>
          <p:cNvPr id="22" name="Text 17">
            <a:extLst>
              <a:ext uri="{FF2B5EF4-FFF2-40B4-BE49-F238E27FC236}">
                <a16:creationId xmlns:a16="http://schemas.microsoft.com/office/drawing/2014/main" id="{623B28A0-A0E6-832D-E135-12E2AC072613}"/>
              </a:ext>
            </a:extLst>
          </p:cNvPr>
          <p:cNvSpPr/>
          <p:nvPr/>
        </p:nvSpPr>
        <p:spPr>
          <a:xfrm>
            <a:off x="7124819" y="4475917"/>
            <a:ext cx="3050738" cy="343853"/>
          </a:xfrm>
          <a:prstGeom prst="rect">
            <a:avLst/>
          </a:prstGeom>
          <a:noFill/>
          <a:ln/>
        </p:spPr>
        <p:txBody>
          <a:bodyPr wrap="none" lIns="0" tIns="0" rIns="0" bIns="0" rtlCol="0" anchor="t"/>
          <a:lstStyle/>
          <a:p>
            <a:pPr marL="0" indent="0" algn="l">
              <a:lnSpc>
                <a:spcPts val="2700"/>
              </a:lnSpc>
              <a:buNone/>
            </a:pPr>
            <a:r>
              <a:rPr lang="en-US" sz="1650" dirty="0">
                <a:solidFill>
                  <a:srgbClr val="272525"/>
                </a:solidFill>
                <a:latin typeface="Inter" pitchFamily="34" charset="0"/>
                <a:ea typeface="Inter" pitchFamily="34" charset="-122"/>
                <a:cs typeface="Inter" pitchFamily="34" charset="-120"/>
              </a:rPr>
              <a:t>pix2pix (Isola)</a:t>
            </a:r>
            <a:endParaRPr lang="en-US" sz="1650" dirty="0"/>
          </a:p>
        </p:txBody>
      </p:sp>
      <p:sp>
        <p:nvSpPr>
          <p:cNvPr id="23" name="Text 18">
            <a:extLst>
              <a:ext uri="{FF2B5EF4-FFF2-40B4-BE49-F238E27FC236}">
                <a16:creationId xmlns:a16="http://schemas.microsoft.com/office/drawing/2014/main" id="{957EDA99-3672-0B06-104D-6EB2D7540AB2}"/>
              </a:ext>
            </a:extLst>
          </p:cNvPr>
          <p:cNvSpPr/>
          <p:nvPr/>
        </p:nvSpPr>
        <p:spPr>
          <a:xfrm>
            <a:off x="10612755" y="4475917"/>
            <a:ext cx="3050738" cy="687705"/>
          </a:xfrm>
          <a:prstGeom prst="rect">
            <a:avLst/>
          </a:prstGeom>
          <a:noFill/>
          <a:ln/>
        </p:spPr>
        <p:txBody>
          <a:bodyPr wrap="square" lIns="0" tIns="0" rIns="0" bIns="0" rtlCol="0" anchor="t"/>
          <a:lstStyle/>
          <a:p>
            <a:pPr marL="0" indent="0" algn="l">
              <a:lnSpc>
                <a:spcPts val="2700"/>
              </a:lnSpc>
              <a:buNone/>
            </a:pPr>
            <a:r>
              <a:rPr lang="en-US" sz="1650" dirty="0">
                <a:solidFill>
                  <a:srgbClr val="272525"/>
                </a:solidFill>
                <a:latin typeface="Inter" pitchFamily="34" charset="0"/>
                <a:ea typeface="Inter" pitchFamily="34" charset="-122"/>
                <a:cs typeface="Inter" pitchFamily="34" charset="-120"/>
              </a:rPr>
              <a:t>Conditional GAN for paired image-to-image translation</a:t>
            </a:r>
            <a:endParaRPr lang="en-US" sz="1650" dirty="0"/>
          </a:p>
        </p:txBody>
      </p:sp>
      <p:sp>
        <p:nvSpPr>
          <p:cNvPr id="24" name="Shape 19">
            <a:extLst>
              <a:ext uri="{FF2B5EF4-FFF2-40B4-BE49-F238E27FC236}">
                <a16:creationId xmlns:a16="http://schemas.microsoft.com/office/drawing/2014/main" id="{D1A4092D-CB90-7D81-EF7D-0C130C195C1E}"/>
              </a:ext>
            </a:extLst>
          </p:cNvPr>
          <p:cNvSpPr/>
          <p:nvPr/>
        </p:nvSpPr>
        <p:spPr>
          <a:xfrm>
            <a:off x="6909911" y="5300067"/>
            <a:ext cx="6968371" cy="960596"/>
          </a:xfrm>
          <a:prstGeom prst="rect">
            <a:avLst/>
          </a:prstGeom>
          <a:solidFill>
            <a:srgbClr val="000000">
              <a:alpha val="4000"/>
            </a:srgbClr>
          </a:solidFill>
          <a:ln/>
        </p:spPr>
      </p:sp>
      <p:sp>
        <p:nvSpPr>
          <p:cNvPr id="25" name="Text 20">
            <a:extLst>
              <a:ext uri="{FF2B5EF4-FFF2-40B4-BE49-F238E27FC236}">
                <a16:creationId xmlns:a16="http://schemas.microsoft.com/office/drawing/2014/main" id="{EBF3A4D4-A542-D16F-B4E9-34264DF08FA0}"/>
              </a:ext>
            </a:extLst>
          </p:cNvPr>
          <p:cNvSpPr/>
          <p:nvPr/>
        </p:nvSpPr>
        <p:spPr>
          <a:xfrm>
            <a:off x="7124819" y="5436513"/>
            <a:ext cx="3050738" cy="343853"/>
          </a:xfrm>
          <a:prstGeom prst="rect">
            <a:avLst/>
          </a:prstGeom>
          <a:noFill/>
          <a:ln/>
        </p:spPr>
        <p:txBody>
          <a:bodyPr wrap="none" lIns="0" tIns="0" rIns="0" bIns="0" rtlCol="0" anchor="t"/>
          <a:lstStyle/>
          <a:p>
            <a:pPr marL="0" indent="0" algn="l">
              <a:lnSpc>
                <a:spcPts val="2700"/>
              </a:lnSpc>
              <a:buNone/>
            </a:pPr>
            <a:r>
              <a:rPr lang="en-US" sz="1650" dirty="0">
                <a:solidFill>
                  <a:srgbClr val="272525"/>
                </a:solidFill>
                <a:latin typeface="Inter" pitchFamily="34" charset="0"/>
                <a:ea typeface="Inter" pitchFamily="34" charset="-122"/>
                <a:cs typeface="Inter" pitchFamily="34" charset="-120"/>
              </a:rPr>
              <a:t>WGAN-GP (Arjovsky)</a:t>
            </a:r>
            <a:endParaRPr lang="en-US" sz="1650" dirty="0"/>
          </a:p>
        </p:txBody>
      </p:sp>
      <p:sp>
        <p:nvSpPr>
          <p:cNvPr id="26" name="Text 21">
            <a:extLst>
              <a:ext uri="{FF2B5EF4-FFF2-40B4-BE49-F238E27FC236}">
                <a16:creationId xmlns:a16="http://schemas.microsoft.com/office/drawing/2014/main" id="{EF45F0E2-F889-E55B-6520-B299BEBB0D08}"/>
              </a:ext>
            </a:extLst>
          </p:cNvPr>
          <p:cNvSpPr/>
          <p:nvPr/>
        </p:nvSpPr>
        <p:spPr>
          <a:xfrm>
            <a:off x="10612755" y="5436513"/>
            <a:ext cx="3050738" cy="687705"/>
          </a:xfrm>
          <a:prstGeom prst="rect">
            <a:avLst/>
          </a:prstGeom>
          <a:noFill/>
          <a:ln/>
        </p:spPr>
        <p:txBody>
          <a:bodyPr wrap="square" lIns="0" tIns="0" rIns="0" bIns="0" rtlCol="0" anchor="t"/>
          <a:lstStyle/>
          <a:p>
            <a:pPr marL="0" indent="0" algn="l">
              <a:lnSpc>
                <a:spcPts val="2700"/>
              </a:lnSpc>
              <a:buNone/>
            </a:pPr>
            <a:r>
              <a:rPr lang="en-US" sz="1650" dirty="0">
                <a:solidFill>
                  <a:srgbClr val="272525"/>
                </a:solidFill>
                <a:latin typeface="Inter" pitchFamily="34" charset="0"/>
                <a:ea typeface="Inter" pitchFamily="34" charset="-122"/>
                <a:cs typeface="Inter" pitchFamily="34" charset="-120"/>
              </a:rPr>
              <a:t>Wasserstein distance for stable training dynamics</a:t>
            </a:r>
            <a:endParaRPr lang="en-US" sz="1650" dirty="0"/>
          </a:p>
        </p:txBody>
      </p:sp>
      <p:sp>
        <p:nvSpPr>
          <p:cNvPr id="27" name="Shape 22">
            <a:extLst>
              <a:ext uri="{FF2B5EF4-FFF2-40B4-BE49-F238E27FC236}">
                <a16:creationId xmlns:a16="http://schemas.microsoft.com/office/drawing/2014/main" id="{573ACDED-AA70-C123-9CA3-6E81E11BCD05}"/>
              </a:ext>
            </a:extLst>
          </p:cNvPr>
          <p:cNvSpPr/>
          <p:nvPr/>
        </p:nvSpPr>
        <p:spPr>
          <a:xfrm>
            <a:off x="6909911" y="6260663"/>
            <a:ext cx="6968371" cy="960596"/>
          </a:xfrm>
          <a:prstGeom prst="rect">
            <a:avLst/>
          </a:prstGeom>
          <a:solidFill>
            <a:srgbClr val="FFFFFF">
              <a:alpha val="4000"/>
            </a:srgbClr>
          </a:solidFill>
          <a:ln/>
        </p:spPr>
      </p:sp>
      <p:sp>
        <p:nvSpPr>
          <p:cNvPr id="28" name="Text 23">
            <a:extLst>
              <a:ext uri="{FF2B5EF4-FFF2-40B4-BE49-F238E27FC236}">
                <a16:creationId xmlns:a16="http://schemas.microsoft.com/office/drawing/2014/main" id="{C7316212-9CB2-F292-3743-2F102B02425A}"/>
              </a:ext>
            </a:extLst>
          </p:cNvPr>
          <p:cNvSpPr/>
          <p:nvPr/>
        </p:nvSpPr>
        <p:spPr>
          <a:xfrm>
            <a:off x="7124819" y="6397109"/>
            <a:ext cx="3050738" cy="343853"/>
          </a:xfrm>
          <a:prstGeom prst="rect">
            <a:avLst/>
          </a:prstGeom>
          <a:noFill/>
          <a:ln/>
        </p:spPr>
        <p:txBody>
          <a:bodyPr wrap="none" lIns="0" tIns="0" rIns="0" bIns="0" rtlCol="0" anchor="t"/>
          <a:lstStyle/>
          <a:p>
            <a:pPr marL="0" indent="0" algn="l">
              <a:lnSpc>
                <a:spcPts val="2700"/>
              </a:lnSpc>
              <a:buNone/>
            </a:pPr>
            <a:r>
              <a:rPr lang="en-US" sz="1650" dirty="0">
                <a:solidFill>
                  <a:srgbClr val="272525"/>
                </a:solidFill>
                <a:latin typeface="Inter" pitchFamily="34" charset="0"/>
                <a:ea typeface="Inter" pitchFamily="34" charset="-122"/>
                <a:cs typeface="Inter" pitchFamily="34" charset="-120"/>
              </a:rPr>
              <a:t>CycleGAN (Zhu)</a:t>
            </a:r>
            <a:endParaRPr lang="en-US" sz="1650" dirty="0"/>
          </a:p>
        </p:txBody>
      </p:sp>
      <p:sp>
        <p:nvSpPr>
          <p:cNvPr id="29" name="Text 24">
            <a:extLst>
              <a:ext uri="{FF2B5EF4-FFF2-40B4-BE49-F238E27FC236}">
                <a16:creationId xmlns:a16="http://schemas.microsoft.com/office/drawing/2014/main" id="{6280F5CB-BD79-C0E0-1C00-BFC552D89587}"/>
              </a:ext>
            </a:extLst>
          </p:cNvPr>
          <p:cNvSpPr/>
          <p:nvPr/>
        </p:nvSpPr>
        <p:spPr>
          <a:xfrm>
            <a:off x="10612755" y="6397109"/>
            <a:ext cx="3050738" cy="687705"/>
          </a:xfrm>
          <a:prstGeom prst="rect">
            <a:avLst/>
          </a:prstGeom>
          <a:noFill/>
          <a:ln/>
        </p:spPr>
        <p:txBody>
          <a:bodyPr wrap="square" lIns="0" tIns="0" rIns="0" bIns="0" rtlCol="0" anchor="t"/>
          <a:lstStyle/>
          <a:p>
            <a:pPr marL="0" indent="0" algn="l">
              <a:lnSpc>
                <a:spcPts val="2700"/>
              </a:lnSpc>
              <a:buNone/>
            </a:pPr>
            <a:r>
              <a:rPr lang="en-US" sz="1650" dirty="0">
                <a:solidFill>
                  <a:srgbClr val="272525"/>
                </a:solidFill>
                <a:latin typeface="Inter" pitchFamily="34" charset="0"/>
                <a:ea typeface="Inter" pitchFamily="34" charset="-122"/>
                <a:cs typeface="Inter" pitchFamily="34" charset="-120"/>
              </a:rPr>
              <a:t>Unpaired modality conversion for flexible reconstruction</a:t>
            </a:r>
            <a:endParaRPr lang="en-US" sz="1650" dirty="0"/>
          </a:p>
        </p:txBody>
      </p:sp>
      <p:pic>
        <p:nvPicPr>
          <p:cNvPr id="30" name="Picture 29">
            <a:extLst>
              <a:ext uri="{FF2B5EF4-FFF2-40B4-BE49-F238E27FC236}">
                <a16:creationId xmlns:a16="http://schemas.microsoft.com/office/drawing/2014/main" id="{B4533B80-EF01-20C9-914B-E1DA494F9F0B}"/>
              </a:ext>
            </a:extLst>
          </p:cNvPr>
          <p:cNvPicPr>
            <a:picLocks noChangeAspect="1"/>
          </p:cNvPicPr>
          <p:nvPr/>
        </p:nvPicPr>
        <p:blipFill>
          <a:blip r:embed="rId3"/>
          <a:stretch>
            <a:fillRect/>
          </a:stretch>
        </p:blipFill>
        <p:spPr>
          <a:xfrm>
            <a:off x="12546597" y="7742753"/>
            <a:ext cx="2072820" cy="403895"/>
          </a:xfrm>
          <a:prstGeom prst="rect">
            <a:avLst/>
          </a:prstGeom>
        </p:spPr>
      </p:pic>
      <p:pic>
        <p:nvPicPr>
          <p:cNvPr id="5122" name="Picture 2" descr="Illustrations &amp; Drawings ...">
            <a:extLst>
              <a:ext uri="{FF2B5EF4-FFF2-40B4-BE49-F238E27FC236}">
                <a16:creationId xmlns:a16="http://schemas.microsoft.com/office/drawing/2014/main" id="{8B6CBC0A-8D65-731E-6529-DCF87FA4C6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888" y="2193707"/>
            <a:ext cx="6768949" cy="49158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06141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73E336-825F-5B3C-CF30-89BB589EB861}"/>
            </a:ext>
          </a:extLst>
        </p:cNvPr>
        <p:cNvGrpSpPr/>
        <p:nvPr/>
      </p:nvGrpSpPr>
      <p:grpSpPr>
        <a:xfrm>
          <a:off x="0" y="0"/>
          <a:ext cx="0" cy="0"/>
          <a:chOff x="0" y="0"/>
          <a:chExt cx="0" cy="0"/>
        </a:xfrm>
      </p:grpSpPr>
      <p:sp>
        <p:nvSpPr>
          <p:cNvPr id="31" name="Text 0">
            <a:extLst>
              <a:ext uri="{FF2B5EF4-FFF2-40B4-BE49-F238E27FC236}">
                <a16:creationId xmlns:a16="http://schemas.microsoft.com/office/drawing/2014/main" id="{F12551E4-9883-7B0F-62F0-A5151E734ECA}"/>
              </a:ext>
            </a:extLst>
          </p:cNvPr>
          <p:cNvSpPr/>
          <p:nvPr/>
        </p:nvSpPr>
        <p:spPr>
          <a:xfrm>
            <a:off x="751999" y="758904"/>
            <a:ext cx="8457843" cy="537210"/>
          </a:xfrm>
          <a:prstGeom prst="rect">
            <a:avLst/>
          </a:prstGeom>
          <a:noFill/>
          <a:ln/>
        </p:spPr>
        <p:txBody>
          <a:bodyPr wrap="none" lIns="0" tIns="0" rIns="0" bIns="0" rtlCol="0" anchor="t"/>
          <a:lstStyle/>
          <a:p>
            <a:pPr marL="0" indent="0" algn="l">
              <a:lnSpc>
                <a:spcPts val="4200"/>
              </a:lnSpc>
              <a:buNone/>
            </a:pPr>
            <a:r>
              <a:rPr lang="en-US" sz="3350" b="1" dirty="0">
                <a:solidFill>
                  <a:srgbClr val="000000"/>
                </a:solidFill>
                <a:latin typeface="Inter Bold" pitchFamily="34" charset="0"/>
                <a:ea typeface="Inter Bold" pitchFamily="34" charset="-122"/>
                <a:cs typeface="Inter Bold" pitchFamily="34" charset="-120"/>
              </a:rPr>
              <a:t>Conclusion:</a:t>
            </a:r>
            <a:endParaRPr lang="en-US" sz="3350" dirty="0"/>
          </a:p>
        </p:txBody>
      </p:sp>
      <p:pic>
        <p:nvPicPr>
          <p:cNvPr id="33" name="Picture 32">
            <a:extLst>
              <a:ext uri="{FF2B5EF4-FFF2-40B4-BE49-F238E27FC236}">
                <a16:creationId xmlns:a16="http://schemas.microsoft.com/office/drawing/2014/main" id="{313E44AC-1CB6-43B4-E2DC-6246BB11AA93}"/>
              </a:ext>
            </a:extLst>
          </p:cNvPr>
          <p:cNvPicPr>
            <a:picLocks noChangeAspect="1"/>
          </p:cNvPicPr>
          <p:nvPr/>
        </p:nvPicPr>
        <p:blipFill>
          <a:blip r:embed="rId3"/>
          <a:stretch>
            <a:fillRect/>
          </a:stretch>
        </p:blipFill>
        <p:spPr>
          <a:xfrm>
            <a:off x="11909824" y="7726636"/>
            <a:ext cx="2720576" cy="502964"/>
          </a:xfrm>
          <a:prstGeom prst="rect">
            <a:avLst/>
          </a:prstGeom>
        </p:spPr>
      </p:pic>
      <p:sp>
        <p:nvSpPr>
          <p:cNvPr id="35" name="AutoShape 4" descr="sample output">
            <a:extLst>
              <a:ext uri="{FF2B5EF4-FFF2-40B4-BE49-F238E27FC236}">
                <a16:creationId xmlns:a16="http://schemas.microsoft.com/office/drawing/2014/main" id="{6EEC61FA-EF34-ED60-5AE3-370C7C34FC4E}"/>
              </a:ext>
            </a:extLst>
          </p:cNvPr>
          <p:cNvSpPr>
            <a:spLocks noChangeAspect="1" noChangeArrowheads="1"/>
          </p:cNvSpPr>
          <p:nvPr/>
        </p:nvSpPr>
        <p:spPr bwMode="auto">
          <a:xfrm>
            <a:off x="7162800" y="3962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 name="TextBox 1">
            <a:extLst>
              <a:ext uri="{FF2B5EF4-FFF2-40B4-BE49-F238E27FC236}">
                <a16:creationId xmlns:a16="http://schemas.microsoft.com/office/drawing/2014/main" id="{EDD2C0B0-D20F-F09E-7D88-258AAF44B609}"/>
              </a:ext>
            </a:extLst>
          </p:cNvPr>
          <p:cNvSpPr txBox="1"/>
          <p:nvPr/>
        </p:nvSpPr>
        <p:spPr>
          <a:xfrm>
            <a:off x="751999" y="1583473"/>
            <a:ext cx="10042381" cy="5093702"/>
          </a:xfrm>
          <a:prstGeom prst="rect">
            <a:avLst/>
          </a:prstGeom>
          <a:noFill/>
        </p:spPr>
        <p:txBody>
          <a:bodyPr wrap="square" rtlCol="0">
            <a:spAutoFit/>
          </a:bodyPr>
          <a:lstStyle/>
          <a:p>
            <a:pPr marL="342900" indent="-342900">
              <a:buFont typeface="Arial" panose="020B0604020202020204" pitchFamily="34" charset="0"/>
              <a:buChar char="•"/>
            </a:pPr>
            <a:r>
              <a:rPr lang="en-US" sz="2500" dirty="0">
                <a:latin typeface="Inter" panose="020B0604020202020204" charset="0"/>
                <a:ea typeface="Inter" panose="020B0604020202020204" charset="0"/>
              </a:rPr>
              <a:t>In conclusion, GAN-based methods, especially DCGAN and its variants, are highly effective in medical image reconstruction.</a:t>
            </a:r>
          </a:p>
          <a:p>
            <a:pPr marL="342900" indent="-342900">
              <a:buFont typeface="Arial" panose="020B0604020202020204" pitchFamily="34" charset="0"/>
              <a:buChar char="•"/>
            </a:pPr>
            <a:endParaRPr lang="en-US" sz="2500" dirty="0">
              <a:latin typeface="Inter" panose="020B0604020202020204" charset="0"/>
              <a:ea typeface="Inter" panose="020B0604020202020204" charset="0"/>
            </a:endParaRPr>
          </a:p>
          <a:p>
            <a:pPr marL="342900" indent="-342900">
              <a:buFont typeface="Arial" panose="020B0604020202020204" pitchFamily="34" charset="0"/>
              <a:buChar char="•"/>
            </a:pPr>
            <a:r>
              <a:rPr lang="en-US" sz="2500" dirty="0">
                <a:latin typeface="Inter" panose="020B0604020202020204" charset="0"/>
                <a:ea typeface="Inter" panose="020B0604020202020204" charset="0"/>
              </a:rPr>
              <a:t>They enhance image resolution, improve anatomical clarity, and reduce artifacts, making reconstructed images more suitable for diagnostic use.</a:t>
            </a:r>
          </a:p>
          <a:p>
            <a:pPr marL="342900" indent="-342900">
              <a:buFont typeface="Arial" panose="020B0604020202020204" pitchFamily="34" charset="0"/>
              <a:buChar char="•"/>
            </a:pPr>
            <a:endParaRPr lang="en-US" sz="2500" dirty="0">
              <a:latin typeface="Inter" panose="020B0604020202020204" charset="0"/>
              <a:ea typeface="Inter" panose="020B0604020202020204" charset="0"/>
            </a:endParaRPr>
          </a:p>
          <a:p>
            <a:pPr marL="342900" indent="-342900">
              <a:buFont typeface="Arial" panose="020B0604020202020204" pitchFamily="34" charset="0"/>
              <a:buChar char="•"/>
            </a:pPr>
            <a:r>
              <a:rPr lang="en-US" sz="2500" dirty="0">
                <a:latin typeface="Inter" panose="020B0604020202020204" charset="0"/>
                <a:ea typeface="Inter" panose="020B0604020202020204" charset="0"/>
              </a:rPr>
              <a:t>However, clinical deployment still requires large dataset availability, careful validation with medical experts, and optimized training strategies.</a:t>
            </a:r>
          </a:p>
          <a:p>
            <a:pPr marL="342900" indent="-342900">
              <a:buFont typeface="Arial" panose="020B0604020202020204" pitchFamily="34" charset="0"/>
              <a:buChar char="•"/>
            </a:pPr>
            <a:endParaRPr lang="en-US" sz="2500" dirty="0">
              <a:latin typeface="Inter" panose="020B0604020202020204" charset="0"/>
              <a:ea typeface="Inter" panose="020B0604020202020204" charset="0"/>
            </a:endParaRPr>
          </a:p>
          <a:p>
            <a:pPr marL="342900" indent="-342900">
              <a:buFont typeface="Arial" panose="020B0604020202020204" pitchFamily="34" charset="0"/>
              <a:buChar char="•"/>
            </a:pPr>
            <a:r>
              <a:rPr lang="en-US" sz="2500" dirty="0">
                <a:latin typeface="Inter" panose="020B0604020202020204" charset="0"/>
                <a:ea typeface="Inter" panose="020B0604020202020204" charset="0"/>
              </a:rPr>
              <a:t>Overall, GANs represent a promising and impactful direction for future medical imaging technologies.</a:t>
            </a:r>
          </a:p>
        </p:txBody>
      </p:sp>
    </p:spTree>
    <p:extLst>
      <p:ext uri="{BB962C8B-B14F-4D97-AF65-F5344CB8AC3E}">
        <p14:creationId xmlns:p14="http://schemas.microsoft.com/office/powerpoint/2010/main" val="42448360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1236</TotalTime>
  <Words>734</Words>
  <Application>Microsoft Office PowerPoint</Application>
  <PresentationFormat>Custom</PresentationFormat>
  <Paragraphs>134</Paragraphs>
  <Slides>12</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Inter Bold</vt:lpstr>
      <vt:lpstr>Arial</vt:lpstr>
      <vt:lpstr>Lora </vt:lpstr>
      <vt:lpstr>Lora Bold</vt:lpstr>
      <vt:lpstr>Wingdings</vt:lpstr>
      <vt:lpstr>Lora</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NEEL PATEL</cp:lastModifiedBy>
  <cp:revision>12</cp:revision>
  <dcterms:created xsi:type="dcterms:W3CDTF">2025-11-06T11:04:06Z</dcterms:created>
  <dcterms:modified xsi:type="dcterms:W3CDTF">2026-01-14T06:24:15Z</dcterms:modified>
</cp:coreProperties>
</file>